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21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 are presenting Smart CPU Scheduler with Dynamic Priority Adjustment. It is a simulator that shows how a scheduling method called priority aging can make CPU sharing fairer. Everything you see runs on simulated processes, not on real operating-system processes. I will explain the problem, our design, the algorithm, the prototype, our testing plan and what we will do next. [Replace the team, college and hackathon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can run only one process at a time, so the operating system's scheduler decides who goes next. In priority scheduling, each process has a priority number. In our project a smaller number means higher priority. The problem is that if high-priority processes keep arriving, a low-priority process may wait for a very long time. This is called starvation. Our idea is to let waiting time raise a process's priority slowly, so every process eventually gets the CPU.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five objectives. First, improve fairness. Second, reduce long waiting and starvation risk. Third, adjust priorities dynamically using aging. Fourth, show the schedule in a Gantt chart and calculate standard metrics. Fifth, compare against a fixed-priority baseline using identical inputs. The fifth objective is marked planned: we will only claim comparison results after the baseline is implemented and tested.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The user enters processes and settings in the React interface. The data goes to a process queue, which holds processes by arrival time. The priority aging engine calculates each waiting process's effective priority. The CPU scheduler picks the process to run, in preemptive or non-preemptive mode. Finally the results appear as a Gantt chart and a performance dashboard. The React frontend talks to the Python FastAPI backend, which contains the scheduling logic.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formula is the scheduling policy chosen for this project. It is not a universal CPU formula. Effective priority equals the larger of zero and base priority minus the whole number of aging intervals the process has waited. Smaller number means higher priority. Example: base priority 3, aging interval 2, waited 4 units: floor of 4 over 2 is 2, so effective priority is 1. At each decision, the scheduler looks at arrived, unfinished processes, recalculates effective priority, and picks the smallest. Ties go to the earlier arrival, then smaller Process ID. In non-preemptive mode the chosen process runs to completion. In preemptive mode the choice is rechecked every time unit, so a better process can interrupt. When a process finishes we record completion time and then compute turnaround, waiting and response times.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has five parts. React builds the interactive dashboard. CSS gives the dark modern styling. Python holds the scheduling logic because it is easy to read and test. FastAPI exposes the scheduler as an API and validates inputs. The Gantt chart turns the schedule into a clear visual. We also write automated tests with sample process inputs.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dashboard layout. Important: this is an illustrative mockup, not a real screenshot; replace it with a screenshot from the running app. On the left is the process input table: ID, arrival, burst and base priority. Above it are controls for preemptive or non-preemptive mode and the aging interval. The Gantt chart shows execution order, and the cards show averages. The sample numbers are the ones we will calculate by hand on the results slide. DEMO SCRIPT (about 3 minutes): 1) 0:00 Open the dashboard and explain the layout. 2) 0:30 Enter P1(0,3,2), P2(1,2,3), P3(2,2,1), P4(3,2,2) as ID, arrival, burst, priority. 3) 1:00 Set non-preemptive and aging interval 2, click Run. 4) 1:30 Show the Gantt chart: P1, P3, P2, P4, and explain why P2 runs before P4: it waited longer, so aging improved its priority. 5) 2:00 Show the metric table and averages. 6) 2:20 Enter a duplicate Process ID to show the validation error. 7) 2:40 Switch to preemptive mode and run again to compare. 8) 2:55 Close: only simulated processes are used.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our test plan. Each row has a scenario and the expected result under our policy. The actual result column says Pending because we will only fill it after running the tests. We test different priorities, long waiting with aging, different arrival times, equal priorities, empty or invalid input, and both scheduling modes. Update the actual column honestly after testing.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definitions. Completion time is when a process finishes. Turnaround is completion minus arrival. Waiting is turnaround minus burst. Response is first start minus arrival. The left table is an illustrative example, hand-calculated: aging interval 2, non-preemptive, order P1 then P3 then P2 then P4. Check P2: arrival 1, burst 2, finishes at 7, so turnaround 6, waiting 4, response 5 minus 1 equals 4. Averages: waiting 2.25, turnaround 4.5, response 2.25. In a fixed-priority hand calculation of this same example, the order would be P1, P3, P4, P2, giving the same averages but P2 waiting 6 instead of 4. That shows only this example; results depend on workload and policy. The comparison table is pending until the baseline is implemented and tested, so we do not claim any improvement yet.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are modest and honest. Aging gives waiting processes a fairer chance at the CPU. The Gantt chart makes scheduling visible. It lowers starvation risk in the simulation. It is a useful teaching and experimental tool. It could support future research on scheduling. We do not claim guaranteed improvement in real operating-system performance. For responsible implementation, the project uses simulated processes only and does not touch real Windows processes. The idea of priority aging is a known concept; our contribution is our own implementation, dashboard and testing tools.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how work is divided among four members. Replace the names and edit the responsibilities so they reflect what each person really did. Member 1 built the scheduling and aging logic. Member 2 built the React dashboard. Member 3 handled the FastAPI backend, integration and testing. Member 4 built the Gantt chart, documentation and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fixed-priority scheduling can starve low-priority processes. We built a simulator that uses waiting time to raise priority, shows the schedule in a Gantt chart and calculates the standard metrics. In the left column, mark only what you have verified in your testing. For the future we plan more scheduling algorithms, process-history storage, workload analysis and a proper performance evaluation with the fixed-priority baseline.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1</a:t>
            </a:r>
            <a:endParaRPr lang="en-US" sz="800" dirty="0"/>
          </a:p>
        </p:txBody>
      </p:sp>
      <p:sp>
        <p:nvSpPr>
          <p:cNvPr id="4" name="Shape 1"/>
          <p:cNvSpPr/>
          <p:nvPr/>
        </p:nvSpPr>
        <p:spPr>
          <a:xfrm>
            <a:off x="6309360" y="1417320"/>
            <a:ext cx="73152" cy="274320"/>
          </a:xfrm>
          <a:prstGeom prst="rect">
            <a:avLst/>
          </a:prstGeom>
          <a:solidFill>
            <a:srgbClr val="8B5CF6"/>
          </a:solidFill>
          <a:ln w="12700">
            <a:solidFill>
              <a:srgbClr val="8B5CF6"/>
            </a:solidFill>
            <a:prstDash val="solid"/>
          </a:ln>
        </p:spPr>
      </p:sp>
      <p:sp>
        <p:nvSpPr>
          <p:cNvPr id="5" name="Shape 2"/>
          <p:cNvSpPr/>
          <p:nvPr/>
        </p:nvSpPr>
        <p:spPr>
          <a:xfrm>
            <a:off x="6309360" y="3794760"/>
            <a:ext cx="73152" cy="274320"/>
          </a:xfrm>
          <a:prstGeom prst="rect">
            <a:avLst/>
          </a:prstGeom>
          <a:solidFill>
            <a:srgbClr val="3B82F6"/>
          </a:solidFill>
          <a:ln w="12700">
            <a:solidFill>
              <a:srgbClr val="3B82F6"/>
            </a:solidFill>
            <a:prstDash val="solid"/>
          </a:ln>
        </p:spPr>
      </p:sp>
      <p:sp>
        <p:nvSpPr>
          <p:cNvPr id="6" name="Shape 3"/>
          <p:cNvSpPr/>
          <p:nvPr/>
        </p:nvSpPr>
        <p:spPr>
          <a:xfrm>
            <a:off x="6583680" y="1417320"/>
            <a:ext cx="73152" cy="274320"/>
          </a:xfrm>
          <a:prstGeom prst="rect">
            <a:avLst/>
          </a:prstGeom>
          <a:solidFill>
            <a:srgbClr val="8B5CF6"/>
          </a:solidFill>
          <a:ln w="12700">
            <a:solidFill>
              <a:srgbClr val="8B5CF6"/>
            </a:solidFill>
            <a:prstDash val="solid"/>
          </a:ln>
        </p:spPr>
      </p:sp>
      <p:sp>
        <p:nvSpPr>
          <p:cNvPr id="7" name="Shape 4"/>
          <p:cNvSpPr/>
          <p:nvPr/>
        </p:nvSpPr>
        <p:spPr>
          <a:xfrm>
            <a:off x="6583680" y="3794760"/>
            <a:ext cx="73152" cy="274320"/>
          </a:xfrm>
          <a:prstGeom prst="rect">
            <a:avLst/>
          </a:prstGeom>
          <a:solidFill>
            <a:srgbClr val="3B82F6"/>
          </a:solidFill>
          <a:ln w="12700">
            <a:solidFill>
              <a:srgbClr val="3B82F6"/>
            </a:solidFill>
            <a:prstDash val="solid"/>
          </a:ln>
        </p:spPr>
      </p:sp>
      <p:sp>
        <p:nvSpPr>
          <p:cNvPr id="8" name="Shape 5"/>
          <p:cNvSpPr/>
          <p:nvPr/>
        </p:nvSpPr>
        <p:spPr>
          <a:xfrm>
            <a:off x="6858000" y="1417320"/>
            <a:ext cx="73152" cy="274320"/>
          </a:xfrm>
          <a:prstGeom prst="rect">
            <a:avLst/>
          </a:prstGeom>
          <a:solidFill>
            <a:srgbClr val="8B5CF6"/>
          </a:solidFill>
          <a:ln w="12700">
            <a:solidFill>
              <a:srgbClr val="8B5CF6"/>
            </a:solidFill>
            <a:prstDash val="solid"/>
          </a:ln>
        </p:spPr>
      </p:sp>
      <p:sp>
        <p:nvSpPr>
          <p:cNvPr id="9" name="Shape 6"/>
          <p:cNvSpPr/>
          <p:nvPr/>
        </p:nvSpPr>
        <p:spPr>
          <a:xfrm>
            <a:off x="6858000" y="3794760"/>
            <a:ext cx="73152" cy="274320"/>
          </a:xfrm>
          <a:prstGeom prst="rect">
            <a:avLst/>
          </a:prstGeom>
          <a:solidFill>
            <a:srgbClr val="3B82F6"/>
          </a:solidFill>
          <a:ln w="12700">
            <a:solidFill>
              <a:srgbClr val="3B82F6"/>
            </a:solidFill>
            <a:prstDash val="solid"/>
          </a:ln>
        </p:spPr>
      </p:sp>
      <p:sp>
        <p:nvSpPr>
          <p:cNvPr id="10" name="Shape 7"/>
          <p:cNvSpPr/>
          <p:nvPr/>
        </p:nvSpPr>
        <p:spPr>
          <a:xfrm>
            <a:off x="7132320" y="1417320"/>
            <a:ext cx="73152" cy="274320"/>
          </a:xfrm>
          <a:prstGeom prst="rect">
            <a:avLst/>
          </a:prstGeom>
          <a:solidFill>
            <a:srgbClr val="8B5CF6"/>
          </a:solidFill>
          <a:ln w="12700">
            <a:solidFill>
              <a:srgbClr val="8B5CF6"/>
            </a:solidFill>
            <a:prstDash val="solid"/>
          </a:ln>
        </p:spPr>
      </p:sp>
      <p:sp>
        <p:nvSpPr>
          <p:cNvPr id="11" name="Shape 8"/>
          <p:cNvSpPr/>
          <p:nvPr/>
        </p:nvSpPr>
        <p:spPr>
          <a:xfrm>
            <a:off x="7132320" y="3794760"/>
            <a:ext cx="73152" cy="274320"/>
          </a:xfrm>
          <a:prstGeom prst="rect">
            <a:avLst/>
          </a:prstGeom>
          <a:solidFill>
            <a:srgbClr val="3B82F6"/>
          </a:solidFill>
          <a:ln w="12700">
            <a:solidFill>
              <a:srgbClr val="3B82F6"/>
            </a:solidFill>
            <a:prstDash val="solid"/>
          </a:ln>
        </p:spPr>
      </p:sp>
      <p:sp>
        <p:nvSpPr>
          <p:cNvPr id="12" name="Shape 9"/>
          <p:cNvSpPr/>
          <p:nvPr/>
        </p:nvSpPr>
        <p:spPr>
          <a:xfrm>
            <a:off x="7406640" y="1417320"/>
            <a:ext cx="73152" cy="274320"/>
          </a:xfrm>
          <a:prstGeom prst="rect">
            <a:avLst/>
          </a:prstGeom>
          <a:solidFill>
            <a:srgbClr val="8B5CF6"/>
          </a:solidFill>
          <a:ln w="12700">
            <a:solidFill>
              <a:srgbClr val="8B5CF6"/>
            </a:solidFill>
            <a:prstDash val="solid"/>
          </a:ln>
        </p:spPr>
      </p:sp>
      <p:sp>
        <p:nvSpPr>
          <p:cNvPr id="13" name="Shape 10"/>
          <p:cNvSpPr/>
          <p:nvPr/>
        </p:nvSpPr>
        <p:spPr>
          <a:xfrm>
            <a:off x="7406640" y="3794760"/>
            <a:ext cx="73152" cy="274320"/>
          </a:xfrm>
          <a:prstGeom prst="rect">
            <a:avLst/>
          </a:prstGeom>
          <a:solidFill>
            <a:srgbClr val="3B82F6"/>
          </a:solidFill>
          <a:ln w="12700">
            <a:solidFill>
              <a:srgbClr val="3B82F6"/>
            </a:solidFill>
            <a:prstDash val="solid"/>
          </a:ln>
        </p:spPr>
      </p:sp>
      <p:sp>
        <p:nvSpPr>
          <p:cNvPr id="14" name="Shape 11"/>
          <p:cNvSpPr/>
          <p:nvPr/>
        </p:nvSpPr>
        <p:spPr>
          <a:xfrm>
            <a:off x="7680960" y="1417320"/>
            <a:ext cx="73152" cy="274320"/>
          </a:xfrm>
          <a:prstGeom prst="rect">
            <a:avLst/>
          </a:prstGeom>
          <a:solidFill>
            <a:srgbClr val="8B5CF6"/>
          </a:solidFill>
          <a:ln w="12700">
            <a:solidFill>
              <a:srgbClr val="8B5CF6"/>
            </a:solidFill>
            <a:prstDash val="solid"/>
          </a:ln>
        </p:spPr>
      </p:sp>
      <p:sp>
        <p:nvSpPr>
          <p:cNvPr id="15" name="Shape 12"/>
          <p:cNvSpPr/>
          <p:nvPr/>
        </p:nvSpPr>
        <p:spPr>
          <a:xfrm>
            <a:off x="7680960" y="3794760"/>
            <a:ext cx="73152" cy="274320"/>
          </a:xfrm>
          <a:prstGeom prst="rect">
            <a:avLst/>
          </a:prstGeom>
          <a:solidFill>
            <a:srgbClr val="3B82F6"/>
          </a:solidFill>
          <a:ln w="12700">
            <a:solidFill>
              <a:srgbClr val="3B82F6"/>
            </a:solidFill>
            <a:prstDash val="solid"/>
          </a:ln>
        </p:spPr>
      </p:sp>
      <p:sp>
        <p:nvSpPr>
          <p:cNvPr id="16" name="Shape 13"/>
          <p:cNvSpPr/>
          <p:nvPr/>
        </p:nvSpPr>
        <p:spPr>
          <a:xfrm>
            <a:off x="7955280" y="1417320"/>
            <a:ext cx="73152" cy="274320"/>
          </a:xfrm>
          <a:prstGeom prst="rect">
            <a:avLst/>
          </a:prstGeom>
          <a:solidFill>
            <a:srgbClr val="8B5CF6"/>
          </a:solidFill>
          <a:ln w="12700">
            <a:solidFill>
              <a:srgbClr val="8B5CF6"/>
            </a:solidFill>
            <a:prstDash val="solid"/>
          </a:ln>
        </p:spPr>
      </p:sp>
      <p:sp>
        <p:nvSpPr>
          <p:cNvPr id="17" name="Shape 14"/>
          <p:cNvSpPr/>
          <p:nvPr/>
        </p:nvSpPr>
        <p:spPr>
          <a:xfrm>
            <a:off x="7955280" y="3794760"/>
            <a:ext cx="73152" cy="274320"/>
          </a:xfrm>
          <a:prstGeom prst="rect">
            <a:avLst/>
          </a:prstGeom>
          <a:solidFill>
            <a:srgbClr val="3B82F6"/>
          </a:solidFill>
          <a:ln w="12700">
            <a:solidFill>
              <a:srgbClr val="3B82F6"/>
            </a:solidFill>
            <a:prstDash val="solid"/>
          </a:ln>
        </p:spPr>
      </p:sp>
      <p:sp>
        <p:nvSpPr>
          <p:cNvPr id="18" name="Shape 15"/>
          <p:cNvSpPr/>
          <p:nvPr/>
        </p:nvSpPr>
        <p:spPr>
          <a:xfrm>
            <a:off x="5989320" y="1783080"/>
            <a:ext cx="274320" cy="73152"/>
          </a:xfrm>
          <a:prstGeom prst="rect">
            <a:avLst/>
          </a:prstGeom>
          <a:solidFill>
            <a:srgbClr val="3B82F6"/>
          </a:solidFill>
          <a:ln w="12700">
            <a:solidFill>
              <a:srgbClr val="3B82F6"/>
            </a:solidFill>
            <a:prstDash val="solid"/>
          </a:ln>
        </p:spPr>
      </p:sp>
      <p:sp>
        <p:nvSpPr>
          <p:cNvPr id="19" name="Shape 16"/>
          <p:cNvSpPr/>
          <p:nvPr/>
        </p:nvSpPr>
        <p:spPr>
          <a:xfrm>
            <a:off x="8321040" y="1783080"/>
            <a:ext cx="274320" cy="73152"/>
          </a:xfrm>
          <a:prstGeom prst="rect">
            <a:avLst/>
          </a:prstGeom>
          <a:solidFill>
            <a:srgbClr val="8B5CF6"/>
          </a:solidFill>
          <a:ln w="12700">
            <a:solidFill>
              <a:srgbClr val="8B5CF6"/>
            </a:solidFill>
            <a:prstDash val="solid"/>
          </a:ln>
        </p:spPr>
      </p:sp>
      <p:sp>
        <p:nvSpPr>
          <p:cNvPr id="20" name="Shape 17"/>
          <p:cNvSpPr/>
          <p:nvPr/>
        </p:nvSpPr>
        <p:spPr>
          <a:xfrm>
            <a:off x="5989320" y="2194560"/>
            <a:ext cx="274320" cy="73152"/>
          </a:xfrm>
          <a:prstGeom prst="rect">
            <a:avLst/>
          </a:prstGeom>
          <a:solidFill>
            <a:srgbClr val="3B82F6"/>
          </a:solidFill>
          <a:ln w="12700">
            <a:solidFill>
              <a:srgbClr val="3B82F6"/>
            </a:solidFill>
            <a:prstDash val="solid"/>
          </a:ln>
        </p:spPr>
      </p:sp>
      <p:sp>
        <p:nvSpPr>
          <p:cNvPr id="21" name="Shape 18"/>
          <p:cNvSpPr/>
          <p:nvPr/>
        </p:nvSpPr>
        <p:spPr>
          <a:xfrm>
            <a:off x="8321040" y="2194560"/>
            <a:ext cx="274320" cy="73152"/>
          </a:xfrm>
          <a:prstGeom prst="rect">
            <a:avLst/>
          </a:prstGeom>
          <a:solidFill>
            <a:srgbClr val="8B5CF6"/>
          </a:solidFill>
          <a:ln w="12700">
            <a:solidFill>
              <a:srgbClr val="8B5CF6"/>
            </a:solidFill>
            <a:prstDash val="solid"/>
          </a:ln>
        </p:spPr>
      </p:sp>
      <p:sp>
        <p:nvSpPr>
          <p:cNvPr id="22" name="Shape 19"/>
          <p:cNvSpPr/>
          <p:nvPr/>
        </p:nvSpPr>
        <p:spPr>
          <a:xfrm>
            <a:off x="5989320" y="2606040"/>
            <a:ext cx="274320" cy="73152"/>
          </a:xfrm>
          <a:prstGeom prst="rect">
            <a:avLst/>
          </a:prstGeom>
          <a:solidFill>
            <a:srgbClr val="3B82F6"/>
          </a:solidFill>
          <a:ln w="12700">
            <a:solidFill>
              <a:srgbClr val="3B82F6"/>
            </a:solidFill>
            <a:prstDash val="solid"/>
          </a:ln>
        </p:spPr>
      </p:sp>
      <p:sp>
        <p:nvSpPr>
          <p:cNvPr id="23" name="Shape 20"/>
          <p:cNvSpPr/>
          <p:nvPr/>
        </p:nvSpPr>
        <p:spPr>
          <a:xfrm>
            <a:off x="8321040" y="2606040"/>
            <a:ext cx="274320" cy="73152"/>
          </a:xfrm>
          <a:prstGeom prst="rect">
            <a:avLst/>
          </a:prstGeom>
          <a:solidFill>
            <a:srgbClr val="8B5CF6"/>
          </a:solidFill>
          <a:ln w="12700">
            <a:solidFill>
              <a:srgbClr val="8B5CF6"/>
            </a:solidFill>
            <a:prstDash val="solid"/>
          </a:ln>
        </p:spPr>
      </p:sp>
      <p:sp>
        <p:nvSpPr>
          <p:cNvPr id="24" name="Shape 21"/>
          <p:cNvSpPr/>
          <p:nvPr/>
        </p:nvSpPr>
        <p:spPr>
          <a:xfrm>
            <a:off x="5989320" y="3017520"/>
            <a:ext cx="274320" cy="73152"/>
          </a:xfrm>
          <a:prstGeom prst="rect">
            <a:avLst/>
          </a:prstGeom>
          <a:solidFill>
            <a:srgbClr val="3B82F6"/>
          </a:solidFill>
          <a:ln w="12700">
            <a:solidFill>
              <a:srgbClr val="3B82F6"/>
            </a:solidFill>
            <a:prstDash val="solid"/>
          </a:ln>
        </p:spPr>
      </p:sp>
      <p:sp>
        <p:nvSpPr>
          <p:cNvPr id="25" name="Shape 22"/>
          <p:cNvSpPr/>
          <p:nvPr/>
        </p:nvSpPr>
        <p:spPr>
          <a:xfrm>
            <a:off x="8321040" y="3017520"/>
            <a:ext cx="274320" cy="73152"/>
          </a:xfrm>
          <a:prstGeom prst="rect">
            <a:avLst/>
          </a:prstGeom>
          <a:solidFill>
            <a:srgbClr val="8B5CF6"/>
          </a:solidFill>
          <a:ln w="12700">
            <a:solidFill>
              <a:srgbClr val="8B5CF6"/>
            </a:solidFill>
            <a:prstDash val="solid"/>
          </a:ln>
        </p:spPr>
      </p:sp>
      <p:sp>
        <p:nvSpPr>
          <p:cNvPr id="26" name="Shape 23"/>
          <p:cNvSpPr/>
          <p:nvPr/>
        </p:nvSpPr>
        <p:spPr>
          <a:xfrm>
            <a:off x="5989320" y="3429000"/>
            <a:ext cx="274320" cy="73152"/>
          </a:xfrm>
          <a:prstGeom prst="rect">
            <a:avLst/>
          </a:prstGeom>
          <a:solidFill>
            <a:srgbClr val="3B82F6"/>
          </a:solidFill>
          <a:ln w="12700">
            <a:solidFill>
              <a:srgbClr val="3B82F6"/>
            </a:solidFill>
            <a:prstDash val="solid"/>
          </a:ln>
        </p:spPr>
      </p:sp>
      <p:sp>
        <p:nvSpPr>
          <p:cNvPr id="27" name="Shape 24"/>
          <p:cNvSpPr/>
          <p:nvPr/>
        </p:nvSpPr>
        <p:spPr>
          <a:xfrm>
            <a:off x="8321040" y="3429000"/>
            <a:ext cx="274320" cy="73152"/>
          </a:xfrm>
          <a:prstGeom prst="rect">
            <a:avLst/>
          </a:prstGeom>
          <a:solidFill>
            <a:srgbClr val="8B5CF6"/>
          </a:solidFill>
          <a:ln w="12700">
            <a:solidFill>
              <a:srgbClr val="8B5CF6"/>
            </a:solidFill>
            <a:prstDash val="solid"/>
          </a:ln>
        </p:spPr>
      </p:sp>
      <p:sp>
        <p:nvSpPr>
          <p:cNvPr id="28" name="Shape 25"/>
          <p:cNvSpPr/>
          <p:nvPr/>
        </p:nvSpPr>
        <p:spPr>
          <a:xfrm>
            <a:off x="6263640" y="1691640"/>
            <a:ext cx="2057400" cy="2103120"/>
          </a:xfrm>
          <a:prstGeom prst="roundRect">
            <a:avLst>
              <a:gd name="adj" fmla="val 5333"/>
            </a:avLst>
          </a:prstGeom>
          <a:solidFill>
            <a:srgbClr val="10163A"/>
          </a:solidFill>
          <a:ln w="31750">
            <a:solidFill>
              <a:srgbClr val="8B5CF6"/>
            </a:solidFill>
            <a:prstDash val="solid"/>
          </a:ln>
          <a:effectLst>
            <a:outerShdw blurRad="228600" dist="50800" dir="16200000" algn="bl" rotWithShape="0">
              <a:srgbClr val="8B5CF6">
                <a:alpha val="60000"/>
              </a:srgbClr>
            </a:outerShdw>
          </a:effectLst>
        </p:spPr>
      </p:sp>
      <p:sp>
        <p:nvSpPr>
          <p:cNvPr id="29" name="Shape 26"/>
          <p:cNvSpPr/>
          <p:nvPr/>
        </p:nvSpPr>
        <p:spPr>
          <a:xfrm>
            <a:off x="6583680" y="2011680"/>
            <a:ext cx="1417320" cy="1463040"/>
          </a:xfrm>
          <a:prstGeom prst="roundRect">
            <a:avLst>
              <a:gd name="adj" fmla="val 5161"/>
            </a:avLst>
          </a:prstGeom>
          <a:solidFill>
            <a:srgbClr val="1E2A6B"/>
          </a:solidFill>
          <a:ln w="19050">
            <a:solidFill>
              <a:srgbClr val="3B82F6"/>
            </a:solidFill>
            <a:prstDash val="solid"/>
          </a:ln>
        </p:spPr>
      </p:sp>
      <p:sp>
        <p:nvSpPr>
          <p:cNvPr id="30" name="Text 27"/>
          <p:cNvSpPr txBox="1"/>
          <p:nvPr/>
        </p:nvSpPr>
        <p:spPr>
          <a:xfrm>
            <a:off x="6583680" y="2011680"/>
            <a:ext cx="1417320" cy="146304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CPU</a:t>
            </a:r>
            <a:endParaRPr lang="en-US" sz="2400" dirty="0"/>
          </a:p>
        </p:txBody>
      </p:sp>
      <p:sp>
        <p:nvSpPr>
          <p:cNvPr id="31" name="Shape 28"/>
          <p:cNvSpPr/>
          <p:nvPr/>
        </p:nvSpPr>
        <p:spPr>
          <a:xfrm>
            <a:off x="457200" y="1005840"/>
            <a:ext cx="1737360" cy="219456"/>
          </a:xfrm>
          <a:prstGeom prst="roundRect">
            <a:avLst>
              <a:gd name="adj" fmla="val 50000"/>
            </a:avLst>
          </a:prstGeom>
          <a:solidFill>
            <a:srgbClr val="8B5CF6">
              <a:alpha val="25000"/>
            </a:srgbClr>
          </a:solidFill>
          <a:ln w="12700">
            <a:solidFill>
              <a:srgbClr val="8B5CF6"/>
            </a:solidFill>
            <a:prstDash val="solid"/>
          </a:ln>
        </p:spPr>
      </p:sp>
      <p:sp>
        <p:nvSpPr>
          <p:cNvPr id="32" name="Text 29"/>
          <p:cNvSpPr txBox="1"/>
          <p:nvPr/>
        </p:nvSpPr>
        <p:spPr>
          <a:xfrm>
            <a:off x="457200" y="1005840"/>
            <a:ext cx="1737360" cy="219456"/>
          </a:xfrm>
          <a:prstGeom prst="rect">
            <a:avLst/>
          </a:prstGeom>
          <a:noFill/>
          <a:ln/>
        </p:spPr>
        <p:txBody>
          <a:bodyPr wrap="square" lIns="0" tIns="0" rIns="0" bIns="0" rtlCol="0" anchor="ctr"/>
          <a:lstStyle/>
          <a:p>
            <a:pPr marL="0" indent="0" algn="ctr">
              <a:buNone/>
            </a:pPr>
            <a:r>
              <a:rPr lang="en-US" sz="800" b="1" dirty="0">
                <a:solidFill>
                  <a:srgbClr val="8B5CF6"/>
                </a:solidFill>
                <a:latin typeface="Segoe UI" pitchFamily="34" charset="0"/>
                <a:ea typeface="Segoe UI" pitchFamily="34" charset="-122"/>
                <a:cs typeface="Segoe UI" pitchFamily="34" charset="-120"/>
              </a:rPr>
              <a:t>HACKATHON PROJECT</a:t>
            </a:r>
            <a:endParaRPr lang="en-US" sz="800" dirty="0"/>
          </a:p>
        </p:txBody>
      </p:sp>
      <p:sp>
        <p:nvSpPr>
          <p:cNvPr id="33" name="Text 30"/>
          <p:cNvSpPr txBox="1"/>
          <p:nvPr/>
        </p:nvSpPr>
        <p:spPr>
          <a:xfrm>
            <a:off x="457200" y="1371600"/>
            <a:ext cx="5486400" cy="548640"/>
          </a:xfrm>
          <a:prstGeom prst="rect">
            <a:avLst/>
          </a:prstGeom>
          <a:noFill/>
          <a:ln/>
        </p:spPr>
        <p:txBody>
          <a:bodyPr wrap="square" lIns="0" tIns="0" rIns="0" bIns="0" rtlCol="0" anchor="t"/>
          <a:lstStyle/>
          <a:p>
            <a:pPr marL="0" indent="0">
              <a:buNone/>
            </a:pPr>
            <a:r>
              <a:rPr lang="en-US" sz="3400" b="1" dirty="0">
                <a:solidFill>
                  <a:srgbClr val="FFFFFF"/>
                </a:solidFill>
                <a:latin typeface="Segoe UI" pitchFamily="34" charset="0"/>
                <a:ea typeface="Segoe UI" pitchFamily="34" charset="-122"/>
                <a:cs typeface="Segoe UI" pitchFamily="34" charset="-120"/>
              </a:rPr>
              <a:t>Smart CPU Scheduler</a:t>
            </a:r>
            <a:endParaRPr lang="en-US" sz="3400" dirty="0"/>
          </a:p>
        </p:txBody>
      </p:sp>
      <p:sp>
        <p:nvSpPr>
          <p:cNvPr id="34" name="Text 31"/>
          <p:cNvSpPr txBox="1"/>
          <p:nvPr/>
        </p:nvSpPr>
        <p:spPr>
          <a:xfrm>
            <a:off x="457200" y="1920240"/>
            <a:ext cx="5486400" cy="457200"/>
          </a:xfrm>
          <a:prstGeom prst="rect">
            <a:avLst/>
          </a:prstGeom>
          <a:noFill/>
          <a:ln/>
        </p:spPr>
        <p:txBody>
          <a:bodyPr wrap="square" lIns="0" tIns="0" rIns="0" bIns="0" rtlCol="0" anchor="t"/>
          <a:lstStyle/>
          <a:p>
            <a:pPr marL="0" indent="0">
              <a:buNone/>
            </a:pPr>
            <a:r>
              <a:rPr lang="en-US" sz="2200" b="1" dirty="0">
                <a:solidFill>
                  <a:srgbClr val="A78BFA"/>
                </a:solidFill>
                <a:latin typeface="Segoe UI" pitchFamily="34" charset="0"/>
                <a:ea typeface="Segoe UI" pitchFamily="34" charset="-122"/>
                <a:cs typeface="Segoe UI" pitchFamily="34" charset="-120"/>
              </a:rPr>
              <a:t>with Dynamic Priority Adjustment</a:t>
            </a:r>
            <a:endParaRPr lang="en-US" sz="2200" dirty="0"/>
          </a:p>
        </p:txBody>
      </p:sp>
      <p:sp>
        <p:nvSpPr>
          <p:cNvPr id="35" name="Text 32"/>
          <p:cNvSpPr txBox="1"/>
          <p:nvPr/>
        </p:nvSpPr>
        <p:spPr>
          <a:xfrm>
            <a:off x="457200" y="2560320"/>
            <a:ext cx="5303520" cy="457200"/>
          </a:xfrm>
          <a:prstGeom prst="rect">
            <a:avLst/>
          </a:prstGeom>
          <a:noFill/>
          <a:ln/>
        </p:spPr>
        <p:txBody>
          <a:bodyPr wrap="square" lIns="0" tIns="0" rIns="0" bIns="0" rtlCol="0" anchor="t"/>
          <a:lstStyle/>
          <a:p>
            <a:pPr marL="0" indent="0">
              <a:buNone/>
            </a:pPr>
            <a:r>
              <a:rPr lang="en-US" sz="1300" dirty="0">
                <a:solidFill>
                  <a:srgbClr val="94A3B8"/>
                </a:solidFill>
                <a:latin typeface="Segoe UI" pitchFamily="34" charset="0"/>
                <a:ea typeface="Segoe UI" pitchFamily="34" charset="-122"/>
                <a:cs typeface="Segoe UI" pitchFamily="34" charset="-120"/>
              </a:rPr>
              <a:t>A priority-aging simulator that makes CPU scheduling fairer and visible</a:t>
            </a:r>
            <a:endParaRPr lang="en-US" sz="1300" dirty="0"/>
          </a:p>
        </p:txBody>
      </p:sp>
      <p:sp>
        <p:nvSpPr>
          <p:cNvPr id="36" name="Text 33"/>
          <p:cNvSpPr txBox="1"/>
          <p:nvPr/>
        </p:nvSpPr>
        <p:spPr>
          <a:xfrm>
            <a:off x="457200" y="3383280"/>
            <a:ext cx="5486400" cy="822960"/>
          </a:xfrm>
          <a:prstGeom prst="rect">
            <a:avLst/>
          </a:prstGeom>
          <a:noFill/>
          <a:ln/>
        </p:spPr>
        <p:txBody>
          <a:bodyPr wrap="square" lIns="0" tIns="0" rIns="0" bIns="0" rtlCol="0" anchor="t"/>
          <a:lstStyle/>
          <a:p>
            <a:pPr marL="0" indent="0">
              <a:buNone/>
            </a:pPr>
            <a:r>
              <a:rPr lang="en-US" sz="1200" b="1" dirty="0">
                <a:solidFill>
                  <a:srgbClr val="E5E7EB"/>
                </a:solidFill>
                <a:latin typeface="Segoe UI" pitchFamily="34" charset="0"/>
                <a:ea typeface="Segoe UI" pitchFamily="34" charset="-122"/>
                <a:cs typeface="Segoe UI" pitchFamily="34" charset="-120"/>
              </a:rPr>
              <a:t>Team: 14 Section: 13</a:t>
            </a:r>
            <a:endParaRPr lang="en-US" sz="1200" dirty="0"/>
          </a:p>
          <a:p>
            <a:pPr marL="0" indent="0">
              <a:buNone/>
            </a:pPr>
            <a:r>
              <a:rPr lang="en-US" sz="1200" dirty="0">
                <a:solidFill>
                  <a:srgbClr val="E5E7EB"/>
                </a:solidFill>
                <a:latin typeface="Segoe UI" pitchFamily="34" charset="0"/>
                <a:cs typeface="Segoe UI" pitchFamily="34" charset="-120"/>
              </a:rPr>
              <a:t>D Ananya              2520090011</a:t>
            </a:r>
            <a:br>
              <a:rPr lang="en-US" sz="1200" dirty="0">
                <a:solidFill>
                  <a:srgbClr val="E5E7EB"/>
                </a:solidFill>
                <a:latin typeface="Segoe UI" pitchFamily="34" charset="0"/>
                <a:cs typeface="Segoe UI" pitchFamily="34" charset="-120"/>
              </a:rPr>
            </a:br>
            <a:r>
              <a:rPr lang="en-US" sz="1200" dirty="0">
                <a:solidFill>
                  <a:srgbClr val="E5E7EB"/>
                </a:solidFill>
                <a:latin typeface="Segoe UI" pitchFamily="34" charset="0"/>
                <a:cs typeface="Segoe UI" pitchFamily="34" charset="-120"/>
              </a:rPr>
              <a:t>M Vijaya Lakshmi 2520090201</a:t>
            </a:r>
            <a:br>
              <a:rPr lang="en-US" sz="1200" dirty="0">
                <a:solidFill>
                  <a:srgbClr val="E5E7EB"/>
                </a:solidFill>
                <a:latin typeface="Segoe UI" pitchFamily="34" charset="0"/>
                <a:cs typeface="Segoe UI" pitchFamily="34" charset="-120"/>
              </a:rPr>
            </a:br>
            <a:r>
              <a:rPr lang="en-US" sz="1200" dirty="0">
                <a:solidFill>
                  <a:srgbClr val="E5E7EB"/>
                </a:solidFill>
                <a:latin typeface="Segoe UI" pitchFamily="34" charset="0"/>
                <a:cs typeface="Segoe UI" pitchFamily="34" charset="-120"/>
              </a:rPr>
              <a:t>P Shashanth         2520090211</a:t>
            </a:r>
          </a:p>
          <a:p>
            <a:pPr marL="0" indent="0">
              <a:buNone/>
            </a:pPr>
            <a:r>
              <a:rPr lang="en-US" sz="1200" dirty="0">
                <a:solidFill>
                  <a:srgbClr val="E5E7EB"/>
                </a:solidFill>
                <a:latin typeface="Segoe UI" pitchFamily="34" charset="0"/>
                <a:cs typeface="Segoe UI" pitchFamily="34" charset="-120"/>
              </a:rPr>
              <a:t>KL University, </a:t>
            </a:r>
            <a:r>
              <a:rPr lang="en-US" sz="1200" dirty="0" err="1">
                <a:solidFill>
                  <a:srgbClr val="E5E7EB"/>
                </a:solidFill>
                <a:latin typeface="Segoe UI" pitchFamily="34" charset="0"/>
                <a:cs typeface="Segoe UI" pitchFamily="34" charset="-120"/>
              </a:rPr>
              <a:t>Bachupally</a:t>
            </a:r>
            <a:endParaRPr lang="en-US" sz="1200" dirty="0"/>
          </a:p>
        </p:txBody>
      </p:sp>
      <p:pic>
        <p:nvPicPr>
          <p:cNvPr id="3" name="Picture 2" descr="Contact Bachupally-Bowrampet, Hyderabad Campus - KLH University">
            <a:extLst>
              <a:ext uri="{FF2B5EF4-FFF2-40B4-BE49-F238E27FC236}">
                <a16:creationId xmlns:a16="http://schemas.microsoft.com/office/drawing/2014/main" id="{9A8257F3-3F93-92FF-6664-2EEC50D2FC02}"/>
              </a:ext>
            </a:extLst>
          </p:cNvPr>
          <p:cNvPicPr>
            <a:picLocks noChangeAspect="1"/>
          </p:cNvPicPr>
          <p:nvPr/>
        </p:nvPicPr>
        <p:blipFill>
          <a:blip r:embed="rId4"/>
          <a:stretch>
            <a:fillRect/>
          </a:stretch>
        </p:blipFill>
        <p:spPr>
          <a:xfrm>
            <a:off x="6656833" y="126272"/>
            <a:ext cx="2149542" cy="7881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Problem Statement</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Why fixed priorities can be unfair</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2</a:t>
            </a:r>
            <a:endParaRPr lang="en-US" sz="800" dirty="0"/>
          </a:p>
        </p:txBody>
      </p:sp>
      <p:sp>
        <p:nvSpPr>
          <p:cNvPr id="7" name="Shape 4"/>
          <p:cNvSpPr/>
          <p:nvPr/>
        </p:nvSpPr>
        <p:spPr>
          <a:xfrm>
            <a:off x="457200" y="1143000"/>
            <a:ext cx="2606040" cy="2377440"/>
          </a:xfrm>
          <a:prstGeom prst="roundRect">
            <a:avLst>
              <a:gd name="adj" fmla="val 3077"/>
            </a:avLst>
          </a:prstGeom>
          <a:solidFill>
            <a:srgbClr val="151B34"/>
          </a:solidFill>
          <a:ln w="12700">
            <a:solidFill>
              <a:srgbClr val="3B82F6"/>
            </a:solidFill>
            <a:prstDash val="solid"/>
          </a:ln>
        </p:spPr>
      </p:sp>
      <p:sp>
        <p:nvSpPr>
          <p:cNvPr id="8" name="Text 5"/>
          <p:cNvSpPr txBox="1"/>
          <p:nvPr/>
        </p:nvSpPr>
        <p:spPr>
          <a:xfrm>
            <a:off x="640080" y="1280160"/>
            <a:ext cx="2286000" cy="274320"/>
          </a:xfrm>
          <a:prstGeom prst="rect">
            <a:avLst/>
          </a:prstGeom>
          <a:noFill/>
          <a:ln/>
        </p:spPr>
        <p:txBody>
          <a:bodyPr wrap="square" lIns="0" tIns="0" rIns="0" bIns="0" rtlCol="0" anchor="t"/>
          <a:lstStyle/>
          <a:p>
            <a:pPr marL="0" indent="0">
              <a:buNone/>
            </a:pPr>
            <a:r>
              <a:rPr lang="en-US" sz="1300" b="1" dirty="0">
                <a:solidFill>
                  <a:srgbClr val="3B82F6"/>
                </a:solidFill>
                <a:latin typeface="Segoe UI" pitchFamily="34" charset="0"/>
                <a:ea typeface="Segoe UI" pitchFamily="34" charset="-122"/>
                <a:cs typeface="Segoe UI" pitchFamily="34" charset="-120"/>
              </a:rPr>
              <a:t>CPU scheduling</a:t>
            </a:r>
            <a:endParaRPr lang="en-US" sz="1300" dirty="0"/>
          </a:p>
        </p:txBody>
      </p:sp>
      <p:sp>
        <p:nvSpPr>
          <p:cNvPr id="9" name="Text 6"/>
          <p:cNvSpPr txBox="1"/>
          <p:nvPr/>
        </p:nvSpPr>
        <p:spPr>
          <a:xfrm>
            <a:off x="64008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One CPU runs one process at a time</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Scheduler picks the next process from the ready queue</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Goal: use CPU well and treat processes fairly</a:t>
            </a:r>
            <a:endParaRPr lang="en-US" sz="1200" dirty="0"/>
          </a:p>
        </p:txBody>
      </p:sp>
      <p:sp>
        <p:nvSpPr>
          <p:cNvPr id="10" name="Shape 7"/>
          <p:cNvSpPr/>
          <p:nvPr/>
        </p:nvSpPr>
        <p:spPr>
          <a:xfrm>
            <a:off x="3246120" y="1143000"/>
            <a:ext cx="2606040" cy="2377440"/>
          </a:xfrm>
          <a:prstGeom prst="roundRect">
            <a:avLst>
              <a:gd name="adj" fmla="val 3077"/>
            </a:avLst>
          </a:prstGeom>
          <a:solidFill>
            <a:srgbClr val="151B34"/>
          </a:solidFill>
          <a:ln w="12700">
            <a:solidFill>
              <a:srgbClr val="F87171"/>
            </a:solidFill>
            <a:prstDash val="solid"/>
          </a:ln>
        </p:spPr>
      </p:sp>
      <p:sp>
        <p:nvSpPr>
          <p:cNvPr id="11" name="Text 8"/>
          <p:cNvSpPr txBox="1"/>
          <p:nvPr/>
        </p:nvSpPr>
        <p:spPr>
          <a:xfrm>
            <a:off x="3429000" y="1280160"/>
            <a:ext cx="2286000" cy="274320"/>
          </a:xfrm>
          <a:prstGeom prst="rect">
            <a:avLst/>
          </a:prstGeom>
          <a:noFill/>
          <a:ln/>
        </p:spPr>
        <p:txBody>
          <a:bodyPr wrap="square" lIns="0" tIns="0" rIns="0" bIns="0" rtlCol="0" anchor="t"/>
          <a:lstStyle/>
          <a:p>
            <a:pPr marL="0" indent="0">
              <a:buNone/>
            </a:pPr>
            <a:r>
              <a:rPr lang="en-US" sz="1300" b="1" dirty="0">
                <a:solidFill>
                  <a:srgbClr val="F87171"/>
                </a:solidFill>
                <a:latin typeface="Segoe UI" pitchFamily="34" charset="0"/>
                <a:ea typeface="Segoe UI" pitchFamily="34" charset="-122"/>
                <a:cs typeface="Segoe UI" pitchFamily="34" charset="-120"/>
              </a:rPr>
              <a:t>Fixed-priority problem</a:t>
            </a:r>
            <a:endParaRPr lang="en-US" sz="1300" dirty="0"/>
          </a:p>
        </p:txBody>
      </p:sp>
      <p:sp>
        <p:nvSpPr>
          <p:cNvPr id="12" name="Text 9"/>
          <p:cNvSpPr txBox="1"/>
          <p:nvPr/>
        </p:nvSpPr>
        <p:spPr>
          <a:xfrm>
            <a:off x="342900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Priority never changes</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High-priority work keeps arriving</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Low-priority process can wait very long → starvation risk</a:t>
            </a:r>
            <a:endParaRPr lang="en-US" sz="1200" dirty="0"/>
          </a:p>
        </p:txBody>
      </p:sp>
      <p:sp>
        <p:nvSpPr>
          <p:cNvPr id="13" name="Shape 10"/>
          <p:cNvSpPr/>
          <p:nvPr/>
        </p:nvSpPr>
        <p:spPr>
          <a:xfrm>
            <a:off x="6035040" y="1143000"/>
            <a:ext cx="2606040" cy="2377440"/>
          </a:xfrm>
          <a:prstGeom prst="roundRect">
            <a:avLst>
              <a:gd name="adj" fmla="val 3077"/>
            </a:avLst>
          </a:prstGeom>
          <a:solidFill>
            <a:srgbClr val="151B34"/>
          </a:solidFill>
          <a:ln w="12700">
            <a:solidFill>
              <a:srgbClr val="34D399"/>
            </a:solidFill>
            <a:prstDash val="solid"/>
          </a:ln>
        </p:spPr>
      </p:sp>
      <p:sp>
        <p:nvSpPr>
          <p:cNvPr id="14" name="Text 11"/>
          <p:cNvSpPr txBox="1"/>
          <p:nvPr/>
        </p:nvSpPr>
        <p:spPr>
          <a:xfrm>
            <a:off x="6217920" y="1280160"/>
            <a:ext cx="2286000" cy="274320"/>
          </a:xfrm>
          <a:prstGeom prst="rect">
            <a:avLst/>
          </a:prstGeom>
          <a:noFill/>
          <a:ln/>
        </p:spPr>
        <p:txBody>
          <a:bodyPr wrap="square" lIns="0" tIns="0" rIns="0" bIns="0" rtlCol="0" anchor="t"/>
          <a:lstStyle/>
          <a:p>
            <a:pPr marL="0" indent="0">
              <a:buNone/>
            </a:pPr>
            <a:r>
              <a:rPr lang="en-US" sz="1300" b="1" dirty="0">
                <a:solidFill>
                  <a:srgbClr val="34D399"/>
                </a:solidFill>
                <a:latin typeface="Segoe UI" pitchFamily="34" charset="0"/>
                <a:ea typeface="Segoe UI" pitchFamily="34" charset="-122"/>
                <a:cs typeface="Segoe UI" pitchFamily="34" charset="-120"/>
              </a:rPr>
              <a:t>Our idea: aging</a:t>
            </a:r>
            <a:endParaRPr lang="en-US" sz="1300" dirty="0"/>
          </a:p>
        </p:txBody>
      </p:sp>
      <p:sp>
        <p:nvSpPr>
          <p:cNvPr id="15" name="Text 12"/>
          <p:cNvSpPr txBox="1"/>
          <p:nvPr/>
        </p:nvSpPr>
        <p:spPr>
          <a:xfrm>
            <a:off x="6217920" y="169164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Waiting time raises effective priority</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Long-waiting processes get a turn</a:t>
            </a:r>
            <a:endParaRPr lang="en-US" sz="1200" dirty="0"/>
          </a:p>
          <a:p>
            <a:pPr marL="342900" indent="-342900">
              <a:spcAft>
                <a:spcPts val="400"/>
              </a:spcAft>
              <a:buSzPct val="100000"/>
              <a:buChar char="•"/>
            </a:pPr>
            <a:r>
              <a:rPr lang="en-US" sz="1200" dirty="0">
                <a:solidFill>
                  <a:srgbClr val="E5E7EB"/>
                </a:solidFill>
                <a:latin typeface="Segoe UI" pitchFamily="34" charset="0"/>
                <a:ea typeface="Segoe UI" pitchFamily="34" charset="-122"/>
                <a:cs typeface="Segoe UI" pitchFamily="34" charset="-120"/>
              </a:rPr>
              <a:t>Fairer sharing, visible in a Gantt chart</a:t>
            </a:r>
            <a:endParaRPr lang="en-US" sz="1200" dirty="0"/>
          </a:p>
        </p:txBody>
      </p:sp>
      <p:sp>
        <p:nvSpPr>
          <p:cNvPr id="16" name="Text 13"/>
          <p:cNvSpPr txBox="1"/>
          <p:nvPr/>
        </p:nvSpPr>
        <p:spPr>
          <a:xfrm>
            <a:off x="457200" y="3794760"/>
            <a:ext cx="8229600" cy="274320"/>
          </a:xfrm>
          <a:prstGeom prst="rect">
            <a:avLst/>
          </a:prstGeom>
          <a:noFill/>
          <a:ln/>
        </p:spPr>
        <p:txBody>
          <a:bodyPr wrap="square" lIns="0" tIns="0" rIns="0" bIns="0" rtlCol="0" anchor="t"/>
          <a:lstStyle/>
          <a:p>
            <a:pPr marL="0" indent="0">
              <a:buNone/>
            </a:pPr>
            <a:r>
              <a:rPr lang="en-US" sz="1200" dirty="0">
                <a:solidFill>
                  <a:srgbClr val="F87171"/>
                </a:solidFill>
                <a:latin typeface="Consolas" pitchFamily="34" charset="0"/>
                <a:ea typeface="Consolas" pitchFamily="34" charset="-122"/>
                <a:cs typeface="Consolas" pitchFamily="34" charset="-120"/>
              </a:rPr>
              <a:t>Fixed:  P-high → P-high → P-high → … P-low waits</a:t>
            </a:r>
            <a:endParaRPr lang="en-US" sz="1200" dirty="0"/>
          </a:p>
        </p:txBody>
      </p:sp>
      <p:sp>
        <p:nvSpPr>
          <p:cNvPr id="17" name="Text 14"/>
          <p:cNvSpPr txBox="1"/>
          <p:nvPr/>
        </p:nvSpPr>
        <p:spPr>
          <a:xfrm>
            <a:off x="457200" y="4114800"/>
            <a:ext cx="8229600" cy="274320"/>
          </a:xfrm>
          <a:prstGeom prst="rect">
            <a:avLst/>
          </a:prstGeom>
          <a:noFill/>
          <a:ln/>
        </p:spPr>
        <p:txBody>
          <a:bodyPr wrap="square" lIns="0" tIns="0" rIns="0" bIns="0" rtlCol="0" anchor="t"/>
          <a:lstStyle/>
          <a:p>
            <a:pPr marL="0" indent="0">
              <a:buNone/>
            </a:pPr>
            <a:r>
              <a:rPr lang="en-US" sz="1200" dirty="0">
                <a:solidFill>
                  <a:srgbClr val="34D399"/>
                </a:solidFill>
                <a:latin typeface="Consolas" pitchFamily="34" charset="0"/>
                <a:ea typeface="Consolas" pitchFamily="34" charset="-122"/>
                <a:cs typeface="Consolas" pitchFamily="34" charset="-120"/>
              </a:rPr>
              <a:t>Aging:  P-high → P-high → P-low (priority improved while waiting) →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Objectives</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Core goals vs. items still to be verified</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3</a:t>
            </a:r>
            <a:endParaRPr lang="en-US" sz="800" dirty="0"/>
          </a:p>
        </p:txBody>
      </p:sp>
      <p:sp>
        <p:nvSpPr>
          <p:cNvPr id="7" name="Shape 4"/>
          <p:cNvSpPr/>
          <p:nvPr/>
        </p:nvSpPr>
        <p:spPr>
          <a:xfrm>
            <a:off x="457200" y="1097280"/>
            <a:ext cx="8229600" cy="548640"/>
          </a:xfrm>
          <a:prstGeom prst="roundRect">
            <a:avLst>
              <a:gd name="adj" fmla="val 13333"/>
            </a:avLst>
          </a:prstGeom>
          <a:solidFill>
            <a:srgbClr val="151B34"/>
          </a:solidFill>
          <a:ln w="12700">
            <a:solidFill>
              <a:srgbClr val="8B5CF6"/>
            </a:solidFill>
            <a:prstDash val="solid"/>
          </a:ln>
        </p:spPr>
      </p:sp>
      <p:sp>
        <p:nvSpPr>
          <p:cNvPr id="8" name="Shape 5"/>
          <p:cNvSpPr/>
          <p:nvPr/>
        </p:nvSpPr>
        <p:spPr>
          <a:xfrm>
            <a:off x="594360" y="1188720"/>
            <a:ext cx="365760" cy="365760"/>
          </a:xfrm>
          <a:prstGeom prst="ellipse">
            <a:avLst/>
          </a:prstGeom>
          <a:solidFill>
            <a:srgbClr val="8B5CF6"/>
          </a:solidFill>
          <a:ln w="12700">
            <a:solidFill>
              <a:srgbClr val="0B1020"/>
            </a:solidFill>
            <a:prstDash val="solid"/>
          </a:ln>
        </p:spPr>
      </p:sp>
      <p:sp>
        <p:nvSpPr>
          <p:cNvPr id="9" name="Text 6"/>
          <p:cNvSpPr txBox="1"/>
          <p:nvPr/>
        </p:nvSpPr>
        <p:spPr>
          <a:xfrm>
            <a:off x="59436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0" name="Text 7"/>
          <p:cNvSpPr txBox="1"/>
          <p:nvPr/>
        </p:nvSpPr>
        <p:spPr>
          <a:xfrm>
            <a:off x="1143000" y="1097280"/>
            <a:ext cx="5669280" cy="548640"/>
          </a:xfrm>
          <a:prstGeom prst="rect">
            <a:avLst/>
          </a:prstGeom>
          <a:noFill/>
          <a:ln/>
        </p:spPr>
        <p:txBody>
          <a:bodyPr wrap="square" lIns="0" tIns="0" rIns="0" bIns="0" rtlCol="0" anchor="ctr"/>
          <a:lstStyle/>
          <a:p>
            <a:pPr marL="0" indent="0">
              <a:buNone/>
            </a:pPr>
            <a:r>
              <a:rPr lang="en-US" sz="1400" dirty="0">
                <a:solidFill>
                  <a:srgbClr val="E5E7EB"/>
                </a:solidFill>
                <a:latin typeface="Segoe UI" pitchFamily="34" charset="0"/>
                <a:ea typeface="Segoe UI" pitchFamily="34" charset="-122"/>
                <a:cs typeface="Segoe UI" pitchFamily="34" charset="-120"/>
              </a:rPr>
              <a:t>Improve fairness in process scheduling</a:t>
            </a:r>
            <a:endParaRPr lang="en-US" sz="1400" dirty="0"/>
          </a:p>
        </p:txBody>
      </p:sp>
      <p:sp>
        <p:nvSpPr>
          <p:cNvPr id="11" name="Shape 8"/>
          <p:cNvSpPr/>
          <p:nvPr/>
        </p:nvSpPr>
        <p:spPr>
          <a:xfrm>
            <a:off x="6720840" y="1261872"/>
            <a:ext cx="1828800" cy="219456"/>
          </a:xfrm>
          <a:prstGeom prst="roundRect">
            <a:avLst>
              <a:gd name="adj" fmla="val 50000"/>
            </a:avLst>
          </a:prstGeom>
          <a:solidFill>
            <a:srgbClr val="34D399">
              <a:alpha val="25000"/>
            </a:srgbClr>
          </a:solidFill>
          <a:ln w="12700">
            <a:solidFill>
              <a:srgbClr val="34D399"/>
            </a:solidFill>
            <a:prstDash val="solid"/>
          </a:ln>
        </p:spPr>
      </p:sp>
      <p:sp>
        <p:nvSpPr>
          <p:cNvPr id="12" name="Text 9"/>
          <p:cNvSpPr txBox="1"/>
          <p:nvPr/>
        </p:nvSpPr>
        <p:spPr>
          <a:xfrm>
            <a:off x="6720840" y="1261872"/>
            <a:ext cx="1828800" cy="219456"/>
          </a:xfrm>
          <a:prstGeom prst="rect">
            <a:avLst/>
          </a:prstGeom>
          <a:noFill/>
          <a:ln/>
        </p:spPr>
        <p:txBody>
          <a:bodyPr wrap="square" lIns="0" tIns="0" rIns="0" bIns="0" rtlCol="0" anchor="ctr"/>
          <a:lstStyle/>
          <a:p>
            <a:pPr marL="0" indent="0" algn="ctr">
              <a:buNone/>
            </a:pPr>
            <a:r>
              <a:rPr lang="en-US" sz="800" b="1" dirty="0">
                <a:solidFill>
                  <a:srgbClr val="34D399"/>
                </a:solidFill>
                <a:latin typeface="Segoe UI" pitchFamily="34" charset="0"/>
                <a:ea typeface="Segoe UI" pitchFamily="34" charset="-122"/>
                <a:cs typeface="Segoe UI" pitchFamily="34" charset="-120"/>
              </a:rPr>
              <a:t>CORE FEATURE</a:t>
            </a:r>
            <a:endParaRPr lang="en-US" sz="800" dirty="0"/>
          </a:p>
        </p:txBody>
      </p:sp>
      <p:sp>
        <p:nvSpPr>
          <p:cNvPr id="13" name="Shape 10"/>
          <p:cNvSpPr/>
          <p:nvPr/>
        </p:nvSpPr>
        <p:spPr>
          <a:xfrm>
            <a:off x="457200" y="1755648"/>
            <a:ext cx="8229600" cy="548640"/>
          </a:xfrm>
          <a:prstGeom prst="roundRect">
            <a:avLst>
              <a:gd name="adj" fmla="val 13333"/>
            </a:avLst>
          </a:prstGeom>
          <a:solidFill>
            <a:srgbClr val="151B34"/>
          </a:solidFill>
          <a:ln w="12700">
            <a:solidFill>
              <a:srgbClr val="8B5CF6"/>
            </a:solidFill>
            <a:prstDash val="solid"/>
          </a:ln>
        </p:spPr>
      </p:sp>
      <p:sp>
        <p:nvSpPr>
          <p:cNvPr id="14" name="Shape 11"/>
          <p:cNvSpPr/>
          <p:nvPr/>
        </p:nvSpPr>
        <p:spPr>
          <a:xfrm>
            <a:off x="594360" y="1847088"/>
            <a:ext cx="365760" cy="365760"/>
          </a:xfrm>
          <a:prstGeom prst="ellipse">
            <a:avLst/>
          </a:prstGeom>
          <a:solidFill>
            <a:srgbClr val="8B5CF6"/>
          </a:solidFill>
          <a:ln w="12700">
            <a:solidFill>
              <a:srgbClr val="0B1020"/>
            </a:solidFill>
            <a:prstDash val="solid"/>
          </a:ln>
        </p:spPr>
      </p:sp>
      <p:sp>
        <p:nvSpPr>
          <p:cNvPr id="15" name="Text 12"/>
          <p:cNvSpPr txBox="1"/>
          <p:nvPr/>
        </p:nvSpPr>
        <p:spPr>
          <a:xfrm>
            <a:off x="594360" y="18470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6" name="Text 13"/>
          <p:cNvSpPr txBox="1"/>
          <p:nvPr/>
        </p:nvSpPr>
        <p:spPr>
          <a:xfrm>
            <a:off x="1143000" y="1755648"/>
            <a:ext cx="5669280" cy="548640"/>
          </a:xfrm>
          <a:prstGeom prst="rect">
            <a:avLst/>
          </a:prstGeom>
          <a:noFill/>
          <a:ln/>
        </p:spPr>
        <p:txBody>
          <a:bodyPr wrap="square" lIns="0" tIns="0" rIns="0" bIns="0" rtlCol="0" anchor="ctr"/>
          <a:lstStyle/>
          <a:p>
            <a:pPr marL="0" indent="0">
              <a:buNone/>
            </a:pPr>
            <a:r>
              <a:rPr lang="en-US" sz="1400" dirty="0">
                <a:solidFill>
                  <a:srgbClr val="E5E7EB"/>
                </a:solidFill>
                <a:latin typeface="Segoe UI" pitchFamily="34" charset="0"/>
                <a:ea typeface="Segoe UI" pitchFamily="34" charset="-122"/>
                <a:cs typeface="Segoe UI" pitchFamily="34" charset="-120"/>
              </a:rPr>
              <a:t>Reduce prolonged waiting and starvation risk</a:t>
            </a:r>
            <a:endParaRPr lang="en-US" sz="1400" dirty="0"/>
          </a:p>
        </p:txBody>
      </p:sp>
      <p:sp>
        <p:nvSpPr>
          <p:cNvPr id="17" name="Shape 14"/>
          <p:cNvSpPr/>
          <p:nvPr/>
        </p:nvSpPr>
        <p:spPr>
          <a:xfrm>
            <a:off x="6720840" y="1920240"/>
            <a:ext cx="1828800" cy="219456"/>
          </a:xfrm>
          <a:prstGeom prst="roundRect">
            <a:avLst>
              <a:gd name="adj" fmla="val 50000"/>
            </a:avLst>
          </a:prstGeom>
          <a:solidFill>
            <a:srgbClr val="34D399">
              <a:alpha val="25000"/>
            </a:srgbClr>
          </a:solidFill>
          <a:ln w="12700">
            <a:solidFill>
              <a:srgbClr val="34D399"/>
            </a:solidFill>
            <a:prstDash val="solid"/>
          </a:ln>
        </p:spPr>
      </p:sp>
      <p:sp>
        <p:nvSpPr>
          <p:cNvPr id="18" name="Text 15"/>
          <p:cNvSpPr txBox="1"/>
          <p:nvPr/>
        </p:nvSpPr>
        <p:spPr>
          <a:xfrm>
            <a:off x="6720840" y="1920240"/>
            <a:ext cx="1828800" cy="219456"/>
          </a:xfrm>
          <a:prstGeom prst="rect">
            <a:avLst/>
          </a:prstGeom>
          <a:noFill/>
          <a:ln/>
        </p:spPr>
        <p:txBody>
          <a:bodyPr wrap="square" lIns="0" tIns="0" rIns="0" bIns="0" rtlCol="0" anchor="ctr"/>
          <a:lstStyle/>
          <a:p>
            <a:pPr marL="0" indent="0" algn="ctr">
              <a:buNone/>
            </a:pPr>
            <a:r>
              <a:rPr lang="en-US" sz="800" b="1" dirty="0">
                <a:solidFill>
                  <a:srgbClr val="34D399"/>
                </a:solidFill>
                <a:latin typeface="Segoe UI" pitchFamily="34" charset="0"/>
                <a:ea typeface="Segoe UI" pitchFamily="34" charset="-122"/>
                <a:cs typeface="Segoe UI" pitchFamily="34" charset="-120"/>
              </a:rPr>
              <a:t>CORE FEATURE</a:t>
            </a:r>
            <a:endParaRPr lang="en-US" sz="800" dirty="0"/>
          </a:p>
        </p:txBody>
      </p:sp>
      <p:sp>
        <p:nvSpPr>
          <p:cNvPr id="19" name="Shape 16"/>
          <p:cNvSpPr/>
          <p:nvPr/>
        </p:nvSpPr>
        <p:spPr>
          <a:xfrm>
            <a:off x="457200" y="2414016"/>
            <a:ext cx="8229600" cy="548640"/>
          </a:xfrm>
          <a:prstGeom prst="roundRect">
            <a:avLst>
              <a:gd name="adj" fmla="val 13333"/>
            </a:avLst>
          </a:prstGeom>
          <a:solidFill>
            <a:srgbClr val="151B34"/>
          </a:solidFill>
          <a:ln w="12700">
            <a:solidFill>
              <a:srgbClr val="8B5CF6"/>
            </a:solidFill>
            <a:prstDash val="solid"/>
          </a:ln>
        </p:spPr>
      </p:sp>
      <p:sp>
        <p:nvSpPr>
          <p:cNvPr id="20" name="Shape 17"/>
          <p:cNvSpPr/>
          <p:nvPr/>
        </p:nvSpPr>
        <p:spPr>
          <a:xfrm>
            <a:off x="594360" y="2505456"/>
            <a:ext cx="365760" cy="365760"/>
          </a:xfrm>
          <a:prstGeom prst="ellipse">
            <a:avLst/>
          </a:prstGeom>
          <a:solidFill>
            <a:srgbClr val="8B5CF6"/>
          </a:solidFill>
          <a:ln w="12700">
            <a:solidFill>
              <a:srgbClr val="0B1020"/>
            </a:solidFill>
            <a:prstDash val="solid"/>
          </a:ln>
        </p:spPr>
      </p:sp>
      <p:sp>
        <p:nvSpPr>
          <p:cNvPr id="21" name="Text 18"/>
          <p:cNvSpPr txBox="1"/>
          <p:nvPr/>
        </p:nvSpPr>
        <p:spPr>
          <a:xfrm>
            <a:off x="594360" y="25054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2" name="Text 19"/>
          <p:cNvSpPr txBox="1"/>
          <p:nvPr/>
        </p:nvSpPr>
        <p:spPr>
          <a:xfrm>
            <a:off x="1143000" y="2414016"/>
            <a:ext cx="5669280" cy="548640"/>
          </a:xfrm>
          <a:prstGeom prst="rect">
            <a:avLst/>
          </a:prstGeom>
          <a:noFill/>
          <a:ln/>
        </p:spPr>
        <p:txBody>
          <a:bodyPr wrap="square" lIns="0" tIns="0" rIns="0" bIns="0" rtlCol="0" anchor="ctr"/>
          <a:lstStyle/>
          <a:p>
            <a:pPr marL="0" indent="0">
              <a:buNone/>
            </a:pPr>
            <a:r>
              <a:rPr lang="en-US" sz="1400" dirty="0">
                <a:solidFill>
                  <a:srgbClr val="E5E7EB"/>
                </a:solidFill>
                <a:latin typeface="Segoe UI" pitchFamily="34" charset="0"/>
                <a:ea typeface="Segoe UI" pitchFamily="34" charset="-122"/>
                <a:cs typeface="Segoe UI" pitchFamily="34" charset="-120"/>
              </a:rPr>
              <a:t>Adjust priorities dynamically using aging</a:t>
            </a:r>
            <a:endParaRPr lang="en-US" sz="1400" dirty="0"/>
          </a:p>
        </p:txBody>
      </p:sp>
      <p:sp>
        <p:nvSpPr>
          <p:cNvPr id="23" name="Shape 20"/>
          <p:cNvSpPr/>
          <p:nvPr/>
        </p:nvSpPr>
        <p:spPr>
          <a:xfrm>
            <a:off x="6720840" y="2578608"/>
            <a:ext cx="1828800" cy="219456"/>
          </a:xfrm>
          <a:prstGeom prst="roundRect">
            <a:avLst>
              <a:gd name="adj" fmla="val 50000"/>
            </a:avLst>
          </a:prstGeom>
          <a:solidFill>
            <a:srgbClr val="34D399">
              <a:alpha val="25000"/>
            </a:srgbClr>
          </a:solidFill>
          <a:ln w="12700">
            <a:solidFill>
              <a:srgbClr val="34D399"/>
            </a:solidFill>
            <a:prstDash val="solid"/>
          </a:ln>
        </p:spPr>
      </p:sp>
      <p:sp>
        <p:nvSpPr>
          <p:cNvPr id="24" name="Text 21"/>
          <p:cNvSpPr txBox="1"/>
          <p:nvPr/>
        </p:nvSpPr>
        <p:spPr>
          <a:xfrm>
            <a:off x="6720840" y="2578608"/>
            <a:ext cx="1828800" cy="219456"/>
          </a:xfrm>
          <a:prstGeom prst="rect">
            <a:avLst/>
          </a:prstGeom>
          <a:noFill/>
          <a:ln/>
        </p:spPr>
        <p:txBody>
          <a:bodyPr wrap="square" lIns="0" tIns="0" rIns="0" bIns="0" rtlCol="0" anchor="ctr"/>
          <a:lstStyle/>
          <a:p>
            <a:pPr marL="0" indent="0" algn="ctr">
              <a:buNone/>
            </a:pPr>
            <a:r>
              <a:rPr lang="en-US" sz="800" b="1" dirty="0">
                <a:solidFill>
                  <a:srgbClr val="34D399"/>
                </a:solidFill>
                <a:latin typeface="Segoe UI" pitchFamily="34" charset="0"/>
                <a:ea typeface="Segoe UI" pitchFamily="34" charset="-122"/>
                <a:cs typeface="Segoe UI" pitchFamily="34" charset="-120"/>
              </a:rPr>
              <a:t>CORE FEATURE</a:t>
            </a:r>
            <a:endParaRPr lang="en-US" sz="800" dirty="0"/>
          </a:p>
        </p:txBody>
      </p:sp>
      <p:sp>
        <p:nvSpPr>
          <p:cNvPr id="25" name="Shape 22"/>
          <p:cNvSpPr/>
          <p:nvPr/>
        </p:nvSpPr>
        <p:spPr>
          <a:xfrm>
            <a:off x="457200" y="3072384"/>
            <a:ext cx="8229600" cy="548640"/>
          </a:xfrm>
          <a:prstGeom prst="roundRect">
            <a:avLst>
              <a:gd name="adj" fmla="val 13333"/>
            </a:avLst>
          </a:prstGeom>
          <a:solidFill>
            <a:srgbClr val="151B34"/>
          </a:solidFill>
          <a:ln w="12700">
            <a:solidFill>
              <a:srgbClr val="8B5CF6"/>
            </a:solidFill>
            <a:prstDash val="solid"/>
          </a:ln>
        </p:spPr>
      </p:sp>
      <p:sp>
        <p:nvSpPr>
          <p:cNvPr id="26" name="Shape 23"/>
          <p:cNvSpPr/>
          <p:nvPr/>
        </p:nvSpPr>
        <p:spPr>
          <a:xfrm>
            <a:off x="594360" y="3163824"/>
            <a:ext cx="365760" cy="365760"/>
          </a:xfrm>
          <a:prstGeom prst="ellipse">
            <a:avLst/>
          </a:prstGeom>
          <a:solidFill>
            <a:srgbClr val="8B5CF6"/>
          </a:solidFill>
          <a:ln w="12700">
            <a:solidFill>
              <a:srgbClr val="0B1020"/>
            </a:solidFill>
            <a:prstDash val="solid"/>
          </a:ln>
        </p:spPr>
      </p:sp>
      <p:sp>
        <p:nvSpPr>
          <p:cNvPr id="27" name="Text 24"/>
          <p:cNvSpPr txBox="1"/>
          <p:nvPr/>
        </p:nvSpPr>
        <p:spPr>
          <a:xfrm>
            <a:off x="594360" y="3163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8" name="Text 25"/>
          <p:cNvSpPr txBox="1"/>
          <p:nvPr/>
        </p:nvSpPr>
        <p:spPr>
          <a:xfrm>
            <a:off x="1143000" y="3072384"/>
            <a:ext cx="5669280" cy="548640"/>
          </a:xfrm>
          <a:prstGeom prst="rect">
            <a:avLst/>
          </a:prstGeom>
          <a:noFill/>
          <a:ln/>
        </p:spPr>
        <p:txBody>
          <a:bodyPr wrap="square" lIns="0" tIns="0" rIns="0" bIns="0" rtlCol="0" anchor="ctr"/>
          <a:lstStyle/>
          <a:p>
            <a:pPr marL="0" indent="0">
              <a:buNone/>
            </a:pPr>
            <a:r>
              <a:rPr lang="en-US" sz="1400" dirty="0">
                <a:solidFill>
                  <a:srgbClr val="E5E7EB"/>
                </a:solidFill>
                <a:latin typeface="Segoe UI" pitchFamily="34" charset="0"/>
                <a:ea typeface="Segoe UI" pitchFamily="34" charset="-122"/>
                <a:cs typeface="Segoe UI" pitchFamily="34" charset="-120"/>
              </a:rPr>
              <a:t>Visualize execution and calculate performance metrics</a:t>
            </a:r>
            <a:endParaRPr lang="en-US" sz="1400" dirty="0"/>
          </a:p>
        </p:txBody>
      </p:sp>
      <p:sp>
        <p:nvSpPr>
          <p:cNvPr id="29" name="Shape 26"/>
          <p:cNvSpPr/>
          <p:nvPr/>
        </p:nvSpPr>
        <p:spPr>
          <a:xfrm>
            <a:off x="6720840" y="3236976"/>
            <a:ext cx="1828800" cy="219456"/>
          </a:xfrm>
          <a:prstGeom prst="roundRect">
            <a:avLst>
              <a:gd name="adj" fmla="val 50000"/>
            </a:avLst>
          </a:prstGeom>
          <a:solidFill>
            <a:srgbClr val="34D399">
              <a:alpha val="25000"/>
            </a:srgbClr>
          </a:solidFill>
          <a:ln w="12700">
            <a:solidFill>
              <a:srgbClr val="34D399"/>
            </a:solidFill>
            <a:prstDash val="solid"/>
          </a:ln>
        </p:spPr>
      </p:sp>
      <p:sp>
        <p:nvSpPr>
          <p:cNvPr id="30" name="Text 27"/>
          <p:cNvSpPr txBox="1"/>
          <p:nvPr/>
        </p:nvSpPr>
        <p:spPr>
          <a:xfrm>
            <a:off x="6720840" y="3236976"/>
            <a:ext cx="1828800" cy="219456"/>
          </a:xfrm>
          <a:prstGeom prst="rect">
            <a:avLst/>
          </a:prstGeom>
          <a:noFill/>
          <a:ln/>
        </p:spPr>
        <p:txBody>
          <a:bodyPr wrap="square" lIns="0" tIns="0" rIns="0" bIns="0" rtlCol="0" anchor="ctr"/>
          <a:lstStyle/>
          <a:p>
            <a:pPr marL="0" indent="0" algn="ctr">
              <a:buNone/>
            </a:pPr>
            <a:r>
              <a:rPr lang="en-US" sz="800" b="1" dirty="0">
                <a:solidFill>
                  <a:srgbClr val="34D399"/>
                </a:solidFill>
                <a:latin typeface="Segoe UI" pitchFamily="34" charset="0"/>
                <a:ea typeface="Segoe UI" pitchFamily="34" charset="-122"/>
                <a:cs typeface="Segoe UI" pitchFamily="34" charset="-120"/>
              </a:rPr>
              <a:t>CORE FEATURE</a:t>
            </a:r>
            <a:endParaRPr lang="en-US" sz="800" dirty="0"/>
          </a:p>
        </p:txBody>
      </p:sp>
      <p:sp>
        <p:nvSpPr>
          <p:cNvPr id="31" name="Shape 28"/>
          <p:cNvSpPr/>
          <p:nvPr/>
        </p:nvSpPr>
        <p:spPr>
          <a:xfrm>
            <a:off x="457200" y="3730752"/>
            <a:ext cx="8229600" cy="548640"/>
          </a:xfrm>
          <a:prstGeom prst="roundRect">
            <a:avLst>
              <a:gd name="adj" fmla="val 13333"/>
            </a:avLst>
          </a:prstGeom>
          <a:solidFill>
            <a:srgbClr val="151B34"/>
          </a:solidFill>
          <a:ln w="12700">
            <a:solidFill>
              <a:srgbClr val="FBBF24"/>
            </a:solidFill>
            <a:prstDash val="solid"/>
          </a:ln>
        </p:spPr>
      </p:sp>
      <p:sp>
        <p:nvSpPr>
          <p:cNvPr id="32" name="Shape 29"/>
          <p:cNvSpPr/>
          <p:nvPr/>
        </p:nvSpPr>
        <p:spPr>
          <a:xfrm>
            <a:off x="594360" y="3822192"/>
            <a:ext cx="365760" cy="365760"/>
          </a:xfrm>
          <a:prstGeom prst="ellipse">
            <a:avLst/>
          </a:prstGeom>
          <a:solidFill>
            <a:srgbClr val="FBBF24"/>
          </a:solidFill>
          <a:ln w="12700">
            <a:solidFill>
              <a:srgbClr val="0B1020"/>
            </a:solidFill>
            <a:prstDash val="solid"/>
          </a:ln>
        </p:spPr>
      </p:sp>
      <p:sp>
        <p:nvSpPr>
          <p:cNvPr id="33" name="Text 30"/>
          <p:cNvSpPr txBox="1"/>
          <p:nvPr/>
        </p:nvSpPr>
        <p:spPr>
          <a:xfrm>
            <a:off x="594360" y="38221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4" name="Text 31"/>
          <p:cNvSpPr txBox="1"/>
          <p:nvPr/>
        </p:nvSpPr>
        <p:spPr>
          <a:xfrm>
            <a:off x="1143000" y="3730752"/>
            <a:ext cx="5669280" cy="548640"/>
          </a:xfrm>
          <a:prstGeom prst="rect">
            <a:avLst/>
          </a:prstGeom>
          <a:noFill/>
          <a:ln/>
        </p:spPr>
        <p:txBody>
          <a:bodyPr wrap="square" lIns="0" tIns="0" rIns="0" bIns="0" rtlCol="0" anchor="ctr"/>
          <a:lstStyle/>
          <a:p>
            <a:pPr marL="0" indent="0">
              <a:buNone/>
            </a:pPr>
            <a:r>
              <a:rPr lang="en-US" sz="1400" dirty="0">
                <a:solidFill>
                  <a:srgbClr val="E5E7EB"/>
                </a:solidFill>
                <a:latin typeface="Segoe UI" pitchFamily="34" charset="0"/>
                <a:ea typeface="Segoe UI" pitchFamily="34" charset="-122"/>
                <a:cs typeface="Segoe UI" pitchFamily="34" charset="-120"/>
              </a:rPr>
              <a:t>Compare strategies on identical inputs (fixed-priority baseline)</a:t>
            </a:r>
            <a:endParaRPr lang="en-US" sz="1400" dirty="0"/>
          </a:p>
        </p:txBody>
      </p:sp>
      <p:sp>
        <p:nvSpPr>
          <p:cNvPr id="35" name="Shape 32"/>
          <p:cNvSpPr/>
          <p:nvPr/>
        </p:nvSpPr>
        <p:spPr>
          <a:xfrm>
            <a:off x="6720840" y="3895344"/>
            <a:ext cx="1828800" cy="219456"/>
          </a:xfrm>
          <a:prstGeom prst="roundRect">
            <a:avLst>
              <a:gd name="adj" fmla="val 50000"/>
            </a:avLst>
          </a:prstGeom>
          <a:solidFill>
            <a:srgbClr val="FBBF24">
              <a:alpha val="25000"/>
            </a:srgbClr>
          </a:solidFill>
          <a:ln w="12700">
            <a:solidFill>
              <a:srgbClr val="FBBF24"/>
            </a:solidFill>
            <a:prstDash val="solid"/>
          </a:ln>
        </p:spPr>
      </p:sp>
      <p:sp>
        <p:nvSpPr>
          <p:cNvPr id="36" name="Text 33"/>
          <p:cNvSpPr txBox="1"/>
          <p:nvPr/>
        </p:nvSpPr>
        <p:spPr>
          <a:xfrm>
            <a:off x="6720840" y="3895344"/>
            <a:ext cx="1828800" cy="219456"/>
          </a:xfrm>
          <a:prstGeom prst="rect">
            <a:avLst/>
          </a:prstGeom>
          <a:noFill/>
          <a:ln/>
        </p:spPr>
        <p:txBody>
          <a:bodyPr wrap="square" lIns="0" tIns="0" rIns="0" bIns="0" rtlCol="0" anchor="ctr"/>
          <a:lstStyle/>
          <a:p>
            <a:pPr marL="0" indent="0" algn="ctr">
              <a:buNone/>
            </a:pPr>
            <a:r>
              <a:rPr lang="en-US" sz="800" b="1" dirty="0">
                <a:solidFill>
                  <a:srgbClr val="FBBF24"/>
                </a:solidFill>
                <a:latin typeface="Segoe UI" pitchFamily="34" charset="0"/>
                <a:ea typeface="Segoe UI" pitchFamily="34" charset="-122"/>
                <a:cs typeface="Segoe UI" pitchFamily="34" charset="-120"/>
              </a:rPr>
              <a:t>PLANNED – implement &amp; test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Proposed System &amp; Architecture</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Data flows left to right</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4</a:t>
            </a:r>
            <a:endParaRPr lang="en-US" sz="800" dirty="0"/>
          </a:p>
        </p:txBody>
      </p:sp>
      <p:sp>
        <p:nvSpPr>
          <p:cNvPr id="7" name="Shape 4"/>
          <p:cNvSpPr/>
          <p:nvPr/>
        </p:nvSpPr>
        <p:spPr>
          <a:xfrm>
            <a:off x="365760" y="1371600"/>
            <a:ext cx="1463040" cy="822960"/>
          </a:xfrm>
          <a:prstGeom prst="roundRect">
            <a:avLst>
              <a:gd name="adj" fmla="val 8889"/>
            </a:avLst>
          </a:prstGeom>
          <a:solidFill>
            <a:srgbClr val="151B34"/>
          </a:solidFill>
          <a:ln w="12700">
            <a:solidFill>
              <a:srgbClr val="8B5CF6"/>
            </a:solidFill>
            <a:prstDash val="solid"/>
          </a:ln>
        </p:spPr>
      </p:sp>
      <p:sp>
        <p:nvSpPr>
          <p:cNvPr id="8" name="Text 5"/>
          <p:cNvSpPr txBox="1"/>
          <p:nvPr/>
        </p:nvSpPr>
        <p:spPr>
          <a:xfrm>
            <a:off x="411480" y="1371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User Input</a:t>
            </a:r>
            <a:endParaRPr lang="en-US" sz="1200" dirty="0"/>
          </a:p>
        </p:txBody>
      </p:sp>
      <p:sp>
        <p:nvSpPr>
          <p:cNvPr id="9" name="Text 6"/>
          <p:cNvSpPr txBox="1"/>
          <p:nvPr/>
        </p:nvSpPr>
        <p:spPr>
          <a:xfrm>
            <a:off x="365760" y="2377440"/>
            <a:ext cx="1554480" cy="137160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Process ID, arrival, burst, base priority, mode, aging interval. Inputs are validated.</a:t>
            </a:r>
            <a:endParaRPr lang="en-US" sz="1000" dirty="0"/>
          </a:p>
        </p:txBody>
      </p:sp>
      <p:sp>
        <p:nvSpPr>
          <p:cNvPr id="10" name="Shape 7"/>
          <p:cNvSpPr/>
          <p:nvPr/>
        </p:nvSpPr>
        <p:spPr>
          <a:xfrm>
            <a:off x="1847088" y="1645920"/>
            <a:ext cx="237744" cy="274320"/>
          </a:xfrm>
          <a:prstGeom prst="rightArrow">
            <a:avLst/>
          </a:prstGeom>
          <a:solidFill>
            <a:srgbClr val="A78BFA"/>
          </a:solidFill>
          <a:ln w="12700">
            <a:solidFill>
              <a:srgbClr val="A78BFA"/>
            </a:solidFill>
            <a:prstDash val="solid"/>
          </a:ln>
        </p:spPr>
      </p:sp>
      <p:sp>
        <p:nvSpPr>
          <p:cNvPr id="11" name="Shape 8"/>
          <p:cNvSpPr/>
          <p:nvPr/>
        </p:nvSpPr>
        <p:spPr>
          <a:xfrm>
            <a:off x="2103120" y="1371600"/>
            <a:ext cx="1463040" cy="822960"/>
          </a:xfrm>
          <a:prstGeom prst="roundRect">
            <a:avLst>
              <a:gd name="adj" fmla="val 8889"/>
            </a:avLst>
          </a:prstGeom>
          <a:solidFill>
            <a:srgbClr val="151B34"/>
          </a:solidFill>
          <a:ln w="12700">
            <a:solidFill>
              <a:srgbClr val="3B82F6"/>
            </a:solidFill>
            <a:prstDash val="solid"/>
          </a:ln>
        </p:spPr>
      </p:sp>
      <p:sp>
        <p:nvSpPr>
          <p:cNvPr id="12" name="Text 9"/>
          <p:cNvSpPr txBox="1"/>
          <p:nvPr/>
        </p:nvSpPr>
        <p:spPr>
          <a:xfrm>
            <a:off x="2148840" y="1371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Process Queue</a:t>
            </a:r>
            <a:endParaRPr lang="en-US" sz="1200" dirty="0"/>
          </a:p>
        </p:txBody>
      </p:sp>
      <p:sp>
        <p:nvSpPr>
          <p:cNvPr id="13" name="Text 10"/>
          <p:cNvSpPr txBox="1"/>
          <p:nvPr/>
        </p:nvSpPr>
        <p:spPr>
          <a:xfrm>
            <a:off x="2103120" y="2377440"/>
            <a:ext cx="1554480" cy="137160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Holds valid processes; shows which have arrived and are ready.</a:t>
            </a:r>
            <a:endParaRPr lang="en-US" sz="1000" dirty="0"/>
          </a:p>
        </p:txBody>
      </p:sp>
      <p:sp>
        <p:nvSpPr>
          <p:cNvPr id="14" name="Shape 11"/>
          <p:cNvSpPr/>
          <p:nvPr/>
        </p:nvSpPr>
        <p:spPr>
          <a:xfrm>
            <a:off x="3584448" y="1645920"/>
            <a:ext cx="237744" cy="274320"/>
          </a:xfrm>
          <a:prstGeom prst="rightArrow">
            <a:avLst/>
          </a:prstGeom>
          <a:solidFill>
            <a:srgbClr val="A78BFA"/>
          </a:solidFill>
          <a:ln w="12700">
            <a:solidFill>
              <a:srgbClr val="A78BFA"/>
            </a:solidFill>
            <a:prstDash val="solid"/>
          </a:ln>
        </p:spPr>
      </p:sp>
      <p:sp>
        <p:nvSpPr>
          <p:cNvPr id="15" name="Shape 12"/>
          <p:cNvSpPr/>
          <p:nvPr/>
        </p:nvSpPr>
        <p:spPr>
          <a:xfrm>
            <a:off x="3840480" y="1371600"/>
            <a:ext cx="1463040" cy="822960"/>
          </a:xfrm>
          <a:prstGeom prst="roundRect">
            <a:avLst>
              <a:gd name="adj" fmla="val 8889"/>
            </a:avLst>
          </a:prstGeom>
          <a:solidFill>
            <a:srgbClr val="151B34"/>
          </a:solidFill>
          <a:ln w="12700">
            <a:solidFill>
              <a:srgbClr val="8B5CF6"/>
            </a:solidFill>
            <a:prstDash val="solid"/>
          </a:ln>
        </p:spPr>
      </p:sp>
      <p:sp>
        <p:nvSpPr>
          <p:cNvPr id="16" name="Text 13"/>
          <p:cNvSpPr txBox="1"/>
          <p:nvPr/>
        </p:nvSpPr>
        <p:spPr>
          <a:xfrm>
            <a:off x="3886200" y="1371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Priority Aging Engine</a:t>
            </a:r>
            <a:endParaRPr lang="en-US" sz="1200" dirty="0"/>
          </a:p>
        </p:txBody>
      </p:sp>
      <p:sp>
        <p:nvSpPr>
          <p:cNvPr id="17" name="Text 14"/>
          <p:cNvSpPr txBox="1"/>
          <p:nvPr/>
        </p:nvSpPr>
        <p:spPr>
          <a:xfrm>
            <a:off x="3840480" y="2377440"/>
            <a:ext cx="1554480" cy="137160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Computes effective priority from waiting time.</a:t>
            </a:r>
            <a:endParaRPr lang="en-US" sz="1000" dirty="0"/>
          </a:p>
        </p:txBody>
      </p:sp>
      <p:sp>
        <p:nvSpPr>
          <p:cNvPr id="18" name="Shape 15"/>
          <p:cNvSpPr/>
          <p:nvPr/>
        </p:nvSpPr>
        <p:spPr>
          <a:xfrm>
            <a:off x="5321808" y="1645920"/>
            <a:ext cx="237744" cy="274320"/>
          </a:xfrm>
          <a:prstGeom prst="rightArrow">
            <a:avLst/>
          </a:prstGeom>
          <a:solidFill>
            <a:srgbClr val="A78BFA"/>
          </a:solidFill>
          <a:ln w="12700">
            <a:solidFill>
              <a:srgbClr val="A78BFA"/>
            </a:solidFill>
            <a:prstDash val="solid"/>
          </a:ln>
        </p:spPr>
      </p:sp>
      <p:sp>
        <p:nvSpPr>
          <p:cNvPr id="19" name="Shape 16"/>
          <p:cNvSpPr/>
          <p:nvPr/>
        </p:nvSpPr>
        <p:spPr>
          <a:xfrm>
            <a:off x="5577840" y="1371600"/>
            <a:ext cx="1463040" cy="822960"/>
          </a:xfrm>
          <a:prstGeom prst="roundRect">
            <a:avLst>
              <a:gd name="adj" fmla="val 8889"/>
            </a:avLst>
          </a:prstGeom>
          <a:solidFill>
            <a:srgbClr val="151B34"/>
          </a:solidFill>
          <a:ln w="12700">
            <a:solidFill>
              <a:srgbClr val="3B82F6"/>
            </a:solidFill>
            <a:prstDash val="solid"/>
          </a:ln>
        </p:spPr>
      </p:sp>
      <p:sp>
        <p:nvSpPr>
          <p:cNvPr id="20" name="Text 17"/>
          <p:cNvSpPr txBox="1"/>
          <p:nvPr/>
        </p:nvSpPr>
        <p:spPr>
          <a:xfrm>
            <a:off x="5623560" y="1371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CPU Scheduler</a:t>
            </a:r>
            <a:endParaRPr lang="en-US" sz="1200" dirty="0"/>
          </a:p>
        </p:txBody>
      </p:sp>
      <p:sp>
        <p:nvSpPr>
          <p:cNvPr id="21" name="Text 18"/>
          <p:cNvSpPr txBox="1"/>
          <p:nvPr/>
        </p:nvSpPr>
        <p:spPr>
          <a:xfrm>
            <a:off x="5577840" y="2377440"/>
            <a:ext cx="1554480" cy="137160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Selects the lowest effective-priority process; runs it (preemptive or not).</a:t>
            </a:r>
            <a:endParaRPr lang="en-US" sz="1000" dirty="0"/>
          </a:p>
        </p:txBody>
      </p:sp>
      <p:sp>
        <p:nvSpPr>
          <p:cNvPr id="22" name="Shape 19"/>
          <p:cNvSpPr/>
          <p:nvPr/>
        </p:nvSpPr>
        <p:spPr>
          <a:xfrm>
            <a:off x="7059168" y="1645920"/>
            <a:ext cx="237744" cy="274320"/>
          </a:xfrm>
          <a:prstGeom prst="rightArrow">
            <a:avLst/>
          </a:prstGeom>
          <a:solidFill>
            <a:srgbClr val="A78BFA"/>
          </a:solidFill>
          <a:ln w="12700">
            <a:solidFill>
              <a:srgbClr val="A78BFA"/>
            </a:solidFill>
            <a:prstDash val="solid"/>
          </a:ln>
        </p:spPr>
      </p:sp>
      <p:sp>
        <p:nvSpPr>
          <p:cNvPr id="23" name="Shape 20"/>
          <p:cNvSpPr/>
          <p:nvPr/>
        </p:nvSpPr>
        <p:spPr>
          <a:xfrm>
            <a:off x="7315200" y="1371600"/>
            <a:ext cx="1463040" cy="822960"/>
          </a:xfrm>
          <a:prstGeom prst="roundRect">
            <a:avLst>
              <a:gd name="adj" fmla="val 8889"/>
            </a:avLst>
          </a:prstGeom>
          <a:solidFill>
            <a:srgbClr val="151B34"/>
          </a:solidFill>
          <a:ln w="12700">
            <a:solidFill>
              <a:srgbClr val="8B5CF6"/>
            </a:solidFill>
            <a:prstDash val="solid"/>
          </a:ln>
        </p:spPr>
      </p:sp>
      <p:sp>
        <p:nvSpPr>
          <p:cNvPr id="24" name="Text 21"/>
          <p:cNvSpPr txBox="1"/>
          <p:nvPr/>
        </p:nvSpPr>
        <p:spPr>
          <a:xfrm>
            <a:off x="7360920" y="1371600"/>
            <a:ext cx="137160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Gantt + Dashboard</a:t>
            </a:r>
            <a:endParaRPr lang="en-US" sz="1200" dirty="0"/>
          </a:p>
        </p:txBody>
      </p:sp>
      <p:sp>
        <p:nvSpPr>
          <p:cNvPr id="25" name="Text 22"/>
          <p:cNvSpPr txBox="1"/>
          <p:nvPr/>
        </p:nvSpPr>
        <p:spPr>
          <a:xfrm>
            <a:off x="7315200" y="2377440"/>
            <a:ext cx="1554480" cy="137160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Shows execution order and CT, WT, TAT, RT with averages.</a:t>
            </a:r>
            <a:endParaRPr lang="en-US" sz="1000" dirty="0"/>
          </a:p>
        </p:txBody>
      </p:sp>
      <p:sp>
        <p:nvSpPr>
          <p:cNvPr id="26" name="Shape 23"/>
          <p:cNvSpPr/>
          <p:nvPr/>
        </p:nvSpPr>
        <p:spPr>
          <a:xfrm>
            <a:off x="457200" y="3840480"/>
            <a:ext cx="8229600" cy="685800"/>
          </a:xfrm>
          <a:prstGeom prst="roundRect">
            <a:avLst>
              <a:gd name="adj" fmla="val 10667"/>
            </a:avLst>
          </a:prstGeom>
          <a:solidFill>
            <a:srgbClr val="151B34"/>
          </a:solidFill>
          <a:ln w="12700">
            <a:solidFill>
              <a:srgbClr val="3B82F6"/>
            </a:solidFill>
            <a:prstDash val="solid"/>
          </a:ln>
        </p:spPr>
      </p:sp>
      <p:sp>
        <p:nvSpPr>
          <p:cNvPr id="27" name="Text 24"/>
          <p:cNvSpPr txBox="1"/>
          <p:nvPr/>
        </p:nvSpPr>
        <p:spPr>
          <a:xfrm>
            <a:off x="640080" y="3840480"/>
            <a:ext cx="7863840" cy="685800"/>
          </a:xfrm>
          <a:prstGeom prst="rect">
            <a:avLst/>
          </a:prstGeom>
          <a:noFill/>
          <a:ln/>
        </p:spPr>
        <p:txBody>
          <a:bodyPr wrap="square" lIns="0" tIns="0" rIns="0" bIns="0" rtlCol="0" anchor="ctr"/>
          <a:lstStyle/>
          <a:p>
            <a:pPr marL="0" indent="0" algn="ctr">
              <a:buNone/>
            </a:pPr>
            <a:r>
              <a:rPr lang="en-US" sz="1300" b="1" dirty="0">
                <a:solidFill>
                  <a:srgbClr val="E5E7EB"/>
                </a:solidFill>
                <a:latin typeface="Segoe UI" pitchFamily="34" charset="0"/>
                <a:ea typeface="Segoe UI" pitchFamily="34" charset="-122"/>
                <a:cs typeface="Segoe UI" pitchFamily="34" charset="-120"/>
              </a:rPr>
              <a:t>React + CSS frontend  ⇄  REST API  ⇄  Python + FastAPI backend (aging engine + scheduler)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Algorithm &amp; Methodology</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Selected policy for this project — not a universal CPU formula</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5</a:t>
            </a:r>
            <a:endParaRPr lang="en-US" sz="800" dirty="0"/>
          </a:p>
        </p:txBody>
      </p:sp>
      <p:sp>
        <p:nvSpPr>
          <p:cNvPr id="7" name="Shape 4"/>
          <p:cNvSpPr/>
          <p:nvPr/>
        </p:nvSpPr>
        <p:spPr>
          <a:xfrm>
            <a:off x="457200" y="1051560"/>
            <a:ext cx="4023360" cy="1005840"/>
          </a:xfrm>
          <a:prstGeom prst="roundRect">
            <a:avLst>
              <a:gd name="adj" fmla="val 7273"/>
            </a:avLst>
          </a:prstGeom>
          <a:solidFill>
            <a:srgbClr val="151B34"/>
          </a:solidFill>
          <a:ln w="12700">
            <a:solidFill>
              <a:srgbClr val="8B5CF6"/>
            </a:solidFill>
            <a:prstDash val="solid"/>
          </a:ln>
        </p:spPr>
      </p:sp>
      <p:sp>
        <p:nvSpPr>
          <p:cNvPr id="8" name="Text 5"/>
          <p:cNvSpPr txBox="1"/>
          <p:nvPr/>
        </p:nvSpPr>
        <p:spPr>
          <a:xfrm>
            <a:off x="548640" y="1097280"/>
            <a:ext cx="3840480" cy="411480"/>
          </a:xfrm>
          <a:prstGeom prst="rect">
            <a:avLst/>
          </a:prstGeom>
          <a:noFill/>
          <a:ln/>
        </p:spPr>
        <p:txBody>
          <a:bodyPr wrap="square" lIns="0" tIns="0" rIns="0" bIns="0" rtlCol="0" anchor="t"/>
          <a:lstStyle/>
          <a:p>
            <a:pPr marL="0" indent="0" algn="ctr">
              <a:buNone/>
            </a:pPr>
            <a:r>
              <a:rPr lang="en-US" sz="1100" b="1" dirty="0">
                <a:solidFill>
                  <a:srgbClr val="C4B5FD"/>
                </a:solidFill>
                <a:latin typeface="Consolas" pitchFamily="34" charset="0"/>
                <a:ea typeface="Consolas" pitchFamily="34" charset="-122"/>
                <a:cs typeface="Consolas" pitchFamily="34" charset="-120"/>
              </a:rPr>
              <a:t>Effective Priority = max(0, BP − ⌊WT / AI⌋)</a:t>
            </a:r>
            <a:endParaRPr lang="en-US" sz="1100" dirty="0"/>
          </a:p>
        </p:txBody>
      </p:sp>
      <p:sp>
        <p:nvSpPr>
          <p:cNvPr id="9" name="Text 6"/>
          <p:cNvSpPr txBox="1"/>
          <p:nvPr/>
        </p:nvSpPr>
        <p:spPr>
          <a:xfrm>
            <a:off x="548640" y="1554480"/>
            <a:ext cx="3840480" cy="45720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BP = base priority • WT = waiting time • AI = aging interval</a:t>
            </a:r>
            <a:endParaRPr lang="en-US" sz="1000" dirty="0"/>
          </a:p>
          <a:p>
            <a:pPr marL="0" indent="0" algn="ctr">
              <a:buNone/>
            </a:pPr>
            <a:r>
              <a:rPr lang="en-US" sz="1000" dirty="0">
                <a:solidFill>
                  <a:srgbClr val="94A3B8"/>
                </a:solidFill>
                <a:latin typeface="Segoe UI" pitchFamily="34" charset="0"/>
                <a:ea typeface="Segoe UI" pitchFamily="34" charset="-122"/>
                <a:cs typeface="Segoe UI" pitchFamily="34" charset="-120"/>
              </a:rPr>
              <a:t>Smaller number = higher priority</a:t>
            </a:r>
            <a:endParaRPr lang="en-US" sz="1000" dirty="0"/>
          </a:p>
        </p:txBody>
      </p:sp>
      <p:sp>
        <p:nvSpPr>
          <p:cNvPr id="10" name="Shape 7"/>
          <p:cNvSpPr/>
          <p:nvPr/>
        </p:nvSpPr>
        <p:spPr>
          <a:xfrm>
            <a:off x="457200" y="2194560"/>
            <a:ext cx="4023360" cy="1325880"/>
          </a:xfrm>
          <a:prstGeom prst="roundRect">
            <a:avLst>
              <a:gd name="adj" fmla="val 5517"/>
            </a:avLst>
          </a:prstGeom>
          <a:solidFill>
            <a:srgbClr val="151B34"/>
          </a:solidFill>
          <a:ln w="12700">
            <a:solidFill>
              <a:srgbClr val="3B82F6"/>
            </a:solidFill>
            <a:prstDash val="solid"/>
          </a:ln>
        </p:spPr>
      </p:sp>
      <p:sp>
        <p:nvSpPr>
          <p:cNvPr id="11" name="Text 8"/>
          <p:cNvSpPr txBox="1"/>
          <p:nvPr/>
        </p:nvSpPr>
        <p:spPr>
          <a:xfrm>
            <a:off x="594360" y="2240280"/>
            <a:ext cx="3657600" cy="274320"/>
          </a:xfrm>
          <a:prstGeom prst="rect">
            <a:avLst/>
          </a:prstGeom>
          <a:noFill/>
          <a:ln/>
        </p:spPr>
        <p:txBody>
          <a:bodyPr wrap="square" lIns="0" tIns="0" rIns="0" bIns="0" rtlCol="0" anchor="t"/>
          <a:lstStyle/>
          <a:p>
            <a:pPr marL="0" indent="0">
              <a:buNone/>
            </a:pPr>
            <a:r>
              <a:rPr lang="en-US" sz="1300" b="1" dirty="0">
                <a:solidFill>
                  <a:srgbClr val="3B82F6"/>
                </a:solidFill>
                <a:latin typeface="Segoe UI" pitchFamily="34" charset="0"/>
                <a:ea typeface="Segoe UI" pitchFamily="34" charset="-122"/>
                <a:cs typeface="Segoe UI" pitchFamily="34" charset="-120"/>
              </a:rPr>
              <a:t>Modes &amp; tie-break</a:t>
            </a:r>
            <a:endParaRPr lang="en-US" sz="1300" dirty="0"/>
          </a:p>
        </p:txBody>
      </p:sp>
      <p:sp>
        <p:nvSpPr>
          <p:cNvPr id="12" name="Text 9"/>
          <p:cNvSpPr txBox="1"/>
          <p:nvPr/>
        </p:nvSpPr>
        <p:spPr>
          <a:xfrm>
            <a:off x="594360" y="2560320"/>
            <a:ext cx="3749040" cy="9601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Non-preemptive: chosen process runs until it finishes</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Preemptive: re-check every time unit; better process can interrupt</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Tie: earlier arrival, then smaller Process ID</a:t>
            </a:r>
            <a:endParaRPr lang="en-US" sz="1000" dirty="0"/>
          </a:p>
        </p:txBody>
      </p:sp>
      <p:sp>
        <p:nvSpPr>
          <p:cNvPr id="13" name="Shape 10"/>
          <p:cNvSpPr/>
          <p:nvPr/>
        </p:nvSpPr>
        <p:spPr>
          <a:xfrm>
            <a:off x="4663440" y="1051560"/>
            <a:ext cx="4023360" cy="2468880"/>
          </a:xfrm>
          <a:prstGeom prst="roundRect">
            <a:avLst>
              <a:gd name="adj" fmla="val 2963"/>
            </a:avLst>
          </a:prstGeom>
          <a:solidFill>
            <a:srgbClr val="151B34"/>
          </a:solidFill>
          <a:ln w="12700">
            <a:solidFill>
              <a:srgbClr val="3B82F6"/>
            </a:solidFill>
            <a:prstDash val="solid"/>
          </a:ln>
        </p:spPr>
      </p:sp>
      <p:sp>
        <p:nvSpPr>
          <p:cNvPr id="14" name="Text 11"/>
          <p:cNvSpPr txBox="1"/>
          <p:nvPr/>
        </p:nvSpPr>
        <p:spPr>
          <a:xfrm>
            <a:off x="4800600" y="1097280"/>
            <a:ext cx="3657600" cy="274320"/>
          </a:xfrm>
          <a:prstGeom prst="rect">
            <a:avLst/>
          </a:prstGeom>
          <a:noFill/>
          <a:ln/>
        </p:spPr>
        <p:txBody>
          <a:bodyPr wrap="square" lIns="0" tIns="0" rIns="0" bIns="0" rtlCol="0" anchor="t"/>
          <a:lstStyle/>
          <a:p>
            <a:pPr marL="0" indent="0">
              <a:buNone/>
            </a:pPr>
            <a:r>
              <a:rPr lang="en-US" sz="1300" b="1" dirty="0">
                <a:solidFill>
                  <a:srgbClr val="3B82F6"/>
                </a:solidFill>
                <a:latin typeface="Segoe UI" pitchFamily="34" charset="0"/>
                <a:ea typeface="Segoe UI" pitchFamily="34" charset="-122"/>
                <a:cs typeface="Segoe UI" pitchFamily="34" charset="-120"/>
              </a:rPr>
              <a:t>Pseudocode</a:t>
            </a:r>
            <a:endParaRPr lang="en-US" sz="1300" dirty="0"/>
          </a:p>
        </p:txBody>
      </p:sp>
      <p:sp>
        <p:nvSpPr>
          <p:cNvPr id="15" name="Text 12"/>
          <p:cNvSpPr txBox="1"/>
          <p:nvPr/>
        </p:nvSpPr>
        <p:spPr>
          <a:xfrm>
            <a:off x="4800600" y="1417320"/>
            <a:ext cx="3840480" cy="2103120"/>
          </a:xfrm>
          <a:prstGeom prst="rect">
            <a:avLst/>
          </a:prstGeom>
          <a:noFill/>
          <a:ln/>
        </p:spPr>
        <p:txBody>
          <a:bodyPr wrap="square" lIns="0" tIns="0" rIns="0" bIns="0" rtlCol="0" anchor="t"/>
          <a:lstStyle/>
          <a:p>
            <a:pPr marL="0" indent="0">
              <a:buNone/>
            </a:pPr>
            <a:r>
              <a:rPr lang="en-US" sz="900" dirty="0">
                <a:solidFill>
                  <a:srgbClr val="A7F3D0"/>
                </a:solidFill>
                <a:latin typeface="Consolas" pitchFamily="34" charset="0"/>
                <a:ea typeface="Consolas" pitchFamily="34" charset="-122"/>
                <a:cs typeface="Consolas" pitchFamily="34" charset="-120"/>
              </a:rPr>
              <a:t>time = 0</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while unfinished processes exist:</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ready = arrived &amp; not finished</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if ready is empty: time = next arrival</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for p in ready:</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wt = time - p.arrival - p.executed</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p.eff = max(0, p.base - wt // AI)</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pick = min eff (tie: arrival, ID)</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run pick (to end, or 1 unit if preemptive)</a:t>
            </a:r>
            <a:endParaRPr lang="en-US" sz="900" dirty="0"/>
          </a:p>
          <a:p>
            <a:pPr marL="0" indent="0">
              <a:buNone/>
            </a:pPr>
            <a:r>
              <a:rPr lang="en-US" sz="900" dirty="0">
                <a:solidFill>
                  <a:srgbClr val="A7F3D0"/>
                </a:solidFill>
                <a:latin typeface="Consolas" pitchFamily="34" charset="0"/>
                <a:ea typeface="Consolas" pitchFamily="34" charset="-122"/>
                <a:cs typeface="Consolas" pitchFamily="34" charset="-120"/>
              </a:rPr>
              <a:t>  if finished: record CT, TAT, WT, RT</a:t>
            </a:r>
            <a:endParaRPr lang="en-US" sz="900" dirty="0"/>
          </a:p>
        </p:txBody>
      </p:sp>
      <p:sp>
        <p:nvSpPr>
          <p:cNvPr id="16" name="Shape 13"/>
          <p:cNvSpPr/>
          <p:nvPr/>
        </p:nvSpPr>
        <p:spPr>
          <a:xfrm>
            <a:off x="457200" y="3657600"/>
            <a:ext cx="8229600" cy="868680"/>
          </a:xfrm>
          <a:prstGeom prst="roundRect">
            <a:avLst>
              <a:gd name="adj" fmla="val 8421"/>
            </a:avLst>
          </a:prstGeom>
          <a:solidFill>
            <a:srgbClr val="151B34"/>
          </a:solidFill>
          <a:ln w="12700">
            <a:solidFill>
              <a:srgbClr val="8B5CF6"/>
            </a:solidFill>
            <a:prstDash val="solid"/>
          </a:ln>
        </p:spPr>
      </p:sp>
      <p:sp>
        <p:nvSpPr>
          <p:cNvPr id="17" name="Text 14"/>
          <p:cNvSpPr txBox="1"/>
          <p:nvPr/>
        </p:nvSpPr>
        <p:spPr>
          <a:xfrm>
            <a:off x="594360" y="3703320"/>
            <a:ext cx="4572000" cy="274320"/>
          </a:xfrm>
          <a:prstGeom prst="rect">
            <a:avLst/>
          </a:prstGeom>
          <a:noFill/>
          <a:ln/>
        </p:spPr>
        <p:txBody>
          <a:bodyPr wrap="square" lIns="0" tIns="0" rIns="0" bIns="0" rtlCol="0" anchor="t"/>
          <a:lstStyle/>
          <a:p>
            <a:pPr marL="0" indent="0">
              <a:buNone/>
            </a:pPr>
            <a:r>
              <a:rPr lang="en-US" sz="1300" b="1" dirty="0">
                <a:solidFill>
                  <a:srgbClr val="C4B5FD"/>
                </a:solidFill>
                <a:latin typeface="Segoe UI" pitchFamily="34" charset="0"/>
                <a:ea typeface="Segoe UI" pitchFamily="34" charset="-122"/>
                <a:cs typeface="Segoe UI" pitchFamily="34" charset="-120"/>
              </a:rPr>
              <a:t>How aging works (AI = 2)</a:t>
            </a:r>
            <a:endParaRPr lang="en-US" sz="1300" dirty="0"/>
          </a:p>
        </p:txBody>
      </p:sp>
      <p:sp>
        <p:nvSpPr>
          <p:cNvPr id="18" name="Text 15"/>
          <p:cNvSpPr txBox="1"/>
          <p:nvPr/>
        </p:nvSpPr>
        <p:spPr>
          <a:xfrm>
            <a:off x="594360" y="4023360"/>
            <a:ext cx="7955280" cy="457200"/>
          </a:xfrm>
          <a:prstGeom prst="rect">
            <a:avLst/>
          </a:prstGeom>
          <a:noFill/>
          <a:ln/>
        </p:spPr>
        <p:txBody>
          <a:bodyPr wrap="square" lIns="0" tIns="0" rIns="0" bIns="0" rtlCol="0" anchor="t"/>
          <a:lstStyle/>
          <a:p>
            <a:pPr marL="0" indent="0">
              <a:buNone/>
            </a:pPr>
            <a:r>
              <a:rPr lang="en-US" sz="1100" dirty="0">
                <a:solidFill>
                  <a:srgbClr val="E5E7EB"/>
                </a:solidFill>
                <a:latin typeface="Segoe UI" pitchFamily="34" charset="0"/>
                <a:ea typeface="Segoe UI" pitchFamily="34" charset="-122"/>
                <a:cs typeface="Segoe UI" pitchFamily="34" charset="-120"/>
              </a:rPr>
              <a:t>BP 3: wait 0–1 → priority 3  |  wait 2–3 → 2  |  wait 4–5 → 1  |  wait 6+ → 0.   The longer a process waits, the higher its priority becomes.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Technologies Used</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Logos can be added from each project's official brand page</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6</a:t>
            </a:r>
            <a:endParaRPr lang="en-US" sz="800" dirty="0"/>
          </a:p>
        </p:txBody>
      </p:sp>
      <p:sp>
        <p:nvSpPr>
          <p:cNvPr id="7" name="Shape 4"/>
          <p:cNvSpPr/>
          <p:nvPr/>
        </p:nvSpPr>
        <p:spPr>
          <a:xfrm>
            <a:off x="365760" y="1280160"/>
            <a:ext cx="1554480" cy="2194560"/>
          </a:xfrm>
          <a:prstGeom prst="roundRect">
            <a:avLst>
              <a:gd name="adj" fmla="val 4706"/>
            </a:avLst>
          </a:prstGeom>
          <a:solidFill>
            <a:srgbClr val="151B34"/>
          </a:solidFill>
          <a:ln w="12700">
            <a:solidFill>
              <a:srgbClr val="3B82F6"/>
            </a:solidFill>
            <a:prstDash val="solid"/>
          </a:ln>
        </p:spPr>
      </p:sp>
      <p:sp>
        <p:nvSpPr>
          <p:cNvPr id="8" name="Shape 5"/>
          <p:cNvSpPr/>
          <p:nvPr/>
        </p:nvSpPr>
        <p:spPr>
          <a:xfrm>
            <a:off x="822960" y="1463040"/>
            <a:ext cx="640080" cy="640080"/>
          </a:xfrm>
          <a:prstGeom prst="ellipse">
            <a:avLst/>
          </a:prstGeom>
          <a:solidFill>
            <a:srgbClr val="3B82F6">
              <a:alpha val="30000"/>
            </a:srgbClr>
          </a:solidFill>
          <a:ln w="25400">
            <a:solidFill>
              <a:srgbClr val="3B82F6"/>
            </a:solidFill>
            <a:prstDash val="solid"/>
          </a:ln>
        </p:spPr>
      </p:sp>
      <p:sp>
        <p:nvSpPr>
          <p:cNvPr id="9" name="Text 6"/>
          <p:cNvSpPr txBox="1"/>
          <p:nvPr/>
        </p:nvSpPr>
        <p:spPr>
          <a:xfrm>
            <a:off x="82296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Re</a:t>
            </a:r>
            <a:endParaRPr lang="en-US" sz="1600" dirty="0"/>
          </a:p>
        </p:txBody>
      </p:sp>
      <p:sp>
        <p:nvSpPr>
          <p:cNvPr id="10" name="Text 7"/>
          <p:cNvSpPr txBox="1"/>
          <p:nvPr/>
        </p:nvSpPr>
        <p:spPr>
          <a:xfrm>
            <a:off x="365760" y="2240280"/>
            <a:ext cx="1554480" cy="274320"/>
          </a:xfrm>
          <a:prstGeom prst="rect">
            <a:avLst/>
          </a:prstGeom>
          <a:noFill/>
          <a:ln/>
        </p:spPr>
        <p:txBody>
          <a:bodyPr wrap="square" lIns="0" tIns="0" rIns="0" bIns="0" rtlCol="0" anchor="t"/>
          <a:lstStyle/>
          <a:p>
            <a:pPr marL="0" indent="0" algn="ctr">
              <a:buNone/>
            </a:pPr>
            <a:r>
              <a:rPr lang="en-US" sz="1300" b="1" dirty="0">
                <a:solidFill>
                  <a:srgbClr val="3B82F6"/>
                </a:solidFill>
                <a:latin typeface="Segoe UI" pitchFamily="34" charset="0"/>
                <a:ea typeface="Segoe UI" pitchFamily="34" charset="-122"/>
                <a:cs typeface="Segoe UI" pitchFamily="34" charset="-120"/>
              </a:rPr>
              <a:t>React</a:t>
            </a:r>
            <a:endParaRPr lang="en-US" sz="1300" dirty="0"/>
          </a:p>
        </p:txBody>
      </p:sp>
      <p:sp>
        <p:nvSpPr>
          <p:cNvPr id="11" name="Text 8"/>
          <p:cNvSpPr txBox="1"/>
          <p:nvPr/>
        </p:nvSpPr>
        <p:spPr>
          <a:xfrm>
            <a:off x="475488" y="2606040"/>
            <a:ext cx="1335024" cy="82296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Frontend UI: input table, controls, dashboard</a:t>
            </a:r>
            <a:endParaRPr lang="en-US" sz="1000" dirty="0"/>
          </a:p>
        </p:txBody>
      </p:sp>
      <p:sp>
        <p:nvSpPr>
          <p:cNvPr id="12" name="Shape 9"/>
          <p:cNvSpPr/>
          <p:nvPr/>
        </p:nvSpPr>
        <p:spPr>
          <a:xfrm>
            <a:off x="2103120" y="1280160"/>
            <a:ext cx="1554480" cy="2194560"/>
          </a:xfrm>
          <a:prstGeom prst="roundRect">
            <a:avLst>
              <a:gd name="adj" fmla="val 4706"/>
            </a:avLst>
          </a:prstGeom>
          <a:solidFill>
            <a:srgbClr val="151B34"/>
          </a:solidFill>
          <a:ln w="12700">
            <a:solidFill>
              <a:srgbClr val="8B5CF6"/>
            </a:solidFill>
            <a:prstDash val="solid"/>
          </a:ln>
        </p:spPr>
      </p:sp>
      <p:sp>
        <p:nvSpPr>
          <p:cNvPr id="13" name="Shape 10"/>
          <p:cNvSpPr/>
          <p:nvPr/>
        </p:nvSpPr>
        <p:spPr>
          <a:xfrm>
            <a:off x="2560320" y="1463040"/>
            <a:ext cx="640080" cy="640080"/>
          </a:xfrm>
          <a:prstGeom prst="ellipse">
            <a:avLst/>
          </a:prstGeom>
          <a:solidFill>
            <a:srgbClr val="8B5CF6">
              <a:alpha val="30000"/>
            </a:srgbClr>
          </a:solidFill>
          <a:ln w="25400">
            <a:solidFill>
              <a:srgbClr val="8B5CF6"/>
            </a:solidFill>
            <a:prstDash val="solid"/>
          </a:ln>
        </p:spPr>
      </p:sp>
      <p:sp>
        <p:nvSpPr>
          <p:cNvPr id="14" name="Text 11"/>
          <p:cNvSpPr txBox="1"/>
          <p:nvPr/>
        </p:nvSpPr>
        <p:spPr>
          <a:xfrm>
            <a:off x="256032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CS</a:t>
            </a:r>
            <a:endParaRPr lang="en-US" sz="1600" dirty="0"/>
          </a:p>
        </p:txBody>
      </p:sp>
      <p:sp>
        <p:nvSpPr>
          <p:cNvPr id="15" name="Text 12"/>
          <p:cNvSpPr txBox="1"/>
          <p:nvPr/>
        </p:nvSpPr>
        <p:spPr>
          <a:xfrm>
            <a:off x="2103120" y="2240280"/>
            <a:ext cx="1554480" cy="274320"/>
          </a:xfrm>
          <a:prstGeom prst="rect">
            <a:avLst/>
          </a:prstGeom>
          <a:noFill/>
          <a:ln/>
        </p:spPr>
        <p:txBody>
          <a:bodyPr wrap="square" lIns="0" tIns="0" rIns="0" bIns="0" rtlCol="0" anchor="t"/>
          <a:lstStyle/>
          <a:p>
            <a:pPr marL="0" indent="0" algn="ctr">
              <a:buNone/>
            </a:pPr>
            <a:r>
              <a:rPr lang="en-US" sz="1300" b="1" dirty="0">
                <a:solidFill>
                  <a:srgbClr val="8B5CF6"/>
                </a:solidFill>
                <a:latin typeface="Segoe UI" pitchFamily="34" charset="0"/>
                <a:ea typeface="Segoe UI" pitchFamily="34" charset="-122"/>
                <a:cs typeface="Segoe UI" pitchFamily="34" charset="-120"/>
              </a:rPr>
              <a:t>CSS</a:t>
            </a:r>
            <a:endParaRPr lang="en-US" sz="1300" dirty="0"/>
          </a:p>
        </p:txBody>
      </p:sp>
      <p:sp>
        <p:nvSpPr>
          <p:cNvPr id="16" name="Text 13"/>
          <p:cNvSpPr txBox="1"/>
          <p:nvPr/>
        </p:nvSpPr>
        <p:spPr>
          <a:xfrm>
            <a:off x="2212848" y="2606040"/>
            <a:ext cx="1335024" cy="82296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Dark theme, layout, responsive styling</a:t>
            </a:r>
            <a:endParaRPr lang="en-US" sz="1000" dirty="0"/>
          </a:p>
        </p:txBody>
      </p:sp>
      <p:sp>
        <p:nvSpPr>
          <p:cNvPr id="17" name="Shape 14"/>
          <p:cNvSpPr/>
          <p:nvPr/>
        </p:nvSpPr>
        <p:spPr>
          <a:xfrm>
            <a:off x="3840480" y="1280160"/>
            <a:ext cx="1554480" cy="2194560"/>
          </a:xfrm>
          <a:prstGeom prst="roundRect">
            <a:avLst>
              <a:gd name="adj" fmla="val 4706"/>
            </a:avLst>
          </a:prstGeom>
          <a:solidFill>
            <a:srgbClr val="151B34"/>
          </a:solidFill>
          <a:ln w="12700">
            <a:solidFill>
              <a:srgbClr val="FBBF24"/>
            </a:solidFill>
            <a:prstDash val="solid"/>
          </a:ln>
        </p:spPr>
      </p:sp>
      <p:sp>
        <p:nvSpPr>
          <p:cNvPr id="18" name="Shape 15"/>
          <p:cNvSpPr/>
          <p:nvPr/>
        </p:nvSpPr>
        <p:spPr>
          <a:xfrm>
            <a:off x="4297680" y="1463040"/>
            <a:ext cx="640080" cy="640080"/>
          </a:xfrm>
          <a:prstGeom prst="ellipse">
            <a:avLst/>
          </a:prstGeom>
          <a:solidFill>
            <a:srgbClr val="FBBF24">
              <a:alpha val="30000"/>
            </a:srgbClr>
          </a:solidFill>
          <a:ln w="25400">
            <a:solidFill>
              <a:srgbClr val="FBBF24"/>
            </a:solidFill>
            <a:prstDash val="solid"/>
          </a:ln>
        </p:spPr>
      </p:sp>
      <p:sp>
        <p:nvSpPr>
          <p:cNvPr id="19" name="Text 16"/>
          <p:cNvSpPr txBox="1"/>
          <p:nvPr/>
        </p:nvSpPr>
        <p:spPr>
          <a:xfrm>
            <a:off x="429768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Py</a:t>
            </a:r>
            <a:endParaRPr lang="en-US" sz="1600" dirty="0"/>
          </a:p>
        </p:txBody>
      </p:sp>
      <p:sp>
        <p:nvSpPr>
          <p:cNvPr id="20" name="Text 17"/>
          <p:cNvSpPr txBox="1"/>
          <p:nvPr/>
        </p:nvSpPr>
        <p:spPr>
          <a:xfrm>
            <a:off x="3840480" y="2240280"/>
            <a:ext cx="1554480" cy="274320"/>
          </a:xfrm>
          <a:prstGeom prst="rect">
            <a:avLst/>
          </a:prstGeom>
          <a:noFill/>
          <a:ln/>
        </p:spPr>
        <p:txBody>
          <a:bodyPr wrap="square" lIns="0" tIns="0" rIns="0" bIns="0" rtlCol="0" anchor="t"/>
          <a:lstStyle/>
          <a:p>
            <a:pPr marL="0" indent="0" algn="ctr">
              <a:buNone/>
            </a:pPr>
            <a:r>
              <a:rPr lang="en-US" sz="1300" b="1" dirty="0">
                <a:solidFill>
                  <a:srgbClr val="FBBF24"/>
                </a:solidFill>
                <a:latin typeface="Segoe UI" pitchFamily="34" charset="0"/>
                <a:ea typeface="Segoe UI" pitchFamily="34" charset="-122"/>
                <a:cs typeface="Segoe UI" pitchFamily="34" charset="-120"/>
              </a:rPr>
              <a:t>Python</a:t>
            </a:r>
            <a:endParaRPr lang="en-US" sz="1300" dirty="0"/>
          </a:p>
        </p:txBody>
      </p:sp>
      <p:sp>
        <p:nvSpPr>
          <p:cNvPr id="21" name="Text 18"/>
          <p:cNvSpPr txBox="1"/>
          <p:nvPr/>
        </p:nvSpPr>
        <p:spPr>
          <a:xfrm>
            <a:off x="3950208" y="2606040"/>
            <a:ext cx="1335024" cy="82296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Aging and scheduling algorithm</a:t>
            </a:r>
            <a:endParaRPr lang="en-US" sz="1000" dirty="0"/>
          </a:p>
        </p:txBody>
      </p:sp>
      <p:sp>
        <p:nvSpPr>
          <p:cNvPr id="22" name="Shape 19"/>
          <p:cNvSpPr/>
          <p:nvPr/>
        </p:nvSpPr>
        <p:spPr>
          <a:xfrm>
            <a:off x="5577840" y="1280160"/>
            <a:ext cx="1554480" cy="2194560"/>
          </a:xfrm>
          <a:prstGeom prst="roundRect">
            <a:avLst>
              <a:gd name="adj" fmla="val 4706"/>
            </a:avLst>
          </a:prstGeom>
          <a:solidFill>
            <a:srgbClr val="151B34"/>
          </a:solidFill>
          <a:ln w="12700">
            <a:solidFill>
              <a:srgbClr val="34D399"/>
            </a:solidFill>
            <a:prstDash val="solid"/>
          </a:ln>
        </p:spPr>
      </p:sp>
      <p:sp>
        <p:nvSpPr>
          <p:cNvPr id="23" name="Shape 20"/>
          <p:cNvSpPr/>
          <p:nvPr/>
        </p:nvSpPr>
        <p:spPr>
          <a:xfrm>
            <a:off x="6035040" y="1463040"/>
            <a:ext cx="640080" cy="640080"/>
          </a:xfrm>
          <a:prstGeom prst="ellipse">
            <a:avLst/>
          </a:prstGeom>
          <a:solidFill>
            <a:srgbClr val="34D399">
              <a:alpha val="30000"/>
            </a:srgbClr>
          </a:solidFill>
          <a:ln w="25400">
            <a:solidFill>
              <a:srgbClr val="34D399"/>
            </a:solidFill>
            <a:prstDash val="solid"/>
          </a:ln>
        </p:spPr>
      </p:sp>
      <p:sp>
        <p:nvSpPr>
          <p:cNvPr id="24" name="Text 21"/>
          <p:cNvSpPr txBox="1"/>
          <p:nvPr/>
        </p:nvSpPr>
        <p:spPr>
          <a:xfrm>
            <a:off x="603504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Fa</a:t>
            </a:r>
            <a:endParaRPr lang="en-US" sz="1600" dirty="0"/>
          </a:p>
        </p:txBody>
      </p:sp>
      <p:sp>
        <p:nvSpPr>
          <p:cNvPr id="25" name="Text 22"/>
          <p:cNvSpPr txBox="1"/>
          <p:nvPr/>
        </p:nvSpPr>
        <p:spPr>
          <a:xfrm>
            <a:off x="5577840" y="2240280"/>
            <a:ext cx="1554480" cy="274320"/>
          </a:xfrm>
          <a:prstGeom prst="rect">
            <a:avLst/>
          </a:prstGeom>
          <a:noFill/>
          <a:ln/>
        </p:spPr>
        <p:txBody>
          <a:bodyPr wrap="square" lIns="0" tIns="0" rIns="0" bIns="0" rtlCol="0" anchor="t"/>
          <a:lstStyle/>
          <a:p>
            <a:pPr marL="0" indent="0" algn="ctr">
              <a:buNone/>
            </a:pPr>
            <a:r>
              <a:rPr lang="en-US" sz="1300" b="1" dirty="0">
                <a:solidFill>
                  <a:srgbClr val="34D399"/>
                </a:solidFill>
                <a:latin typeface="Segoe UI" pitchFamily="34" charset="0"/>
                <a:ea typeface="Segoe UI" pitchFamily="34" charset="-122"/>
                <a:cs typeface="Segoe UI" pitchFamily="34" charset="-120"/>
              </a:rPr>
              <a:t>FastAPI</a:t>
            </a:r>
            <a:endParaRPr lang="en-US" sz="1300" dirty="0"/>
          </a:p>
        </p:txBody>
      </p:sp>
      <p:sp>
        <p:nvSpPr>
          <p:cNvPr id="26" name="Text 23"/>
          <p:cNvSpPr txBox="1"/>
          <p:nvPr/>
        </p:nvSpPr>
        <p:spPr>
          <a:xfrm>
            <a:off x="5687568" y="2606040"/>
            <a:ext cx="1335024" cy="82296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REST API, request validation, integration</a:t>
            </a:r>
            <a:endParaRPr lang="en-US" sz="1000" dirty="0"/>
          </a:p>
        </p:txBody>
      </p:sp>
      <p:sp>
        <p:nvSpPr>
          <p:cNvPr id="27" name="Shape 24"/>
          <p:cNvSpPr/>
          <p:nvPr/>
        </p:nvSpPr>
        <p:spPr>
          <a:xfrm>
            <a:off x="7315200" y="1280160"/>
            <a:ext cx="1554480" cy="2194560"/>
          </a:xfrm>
          <a:prstGeom prst="roundRect">
            <a:avLst>
              <a:gd name="adj" fmla="val 4706"/>
            </a:avLst>
          </a:prstGeom>
          <a:solidFill>
            <a:srgbClr val="151B34"/>
          </a:solidFill>
          <a:ln w="12700">
            <a:solidFill>
              <a:srgbClr val="A855F7"/>
            </a:solidFill>
            <a:prstDash val="solid"/>
          </a:ln>
        </p:spPr>
      </p:sp>
      <p:sp>
        <p:nvSpPr>
          <p:cNvPr id="28" name="Shape 25"/>
          <p:cNvSpPr/>
          <p:nvPr/>
        </p:nvSpPr>
        <p:spPr>
          <a:xfrm>
            <a:off x="7772400" y="1463040"/>
            <a:ext cx="640080" cy="640080"/>
          </a:xfrm>
          <a:prstGeom prst="ellipse">
            <a:avLst/>
          </a:prstGeom>
          <a:solidFill>
            <a:srgbClr val="A855F7">
              <a:alpha val="30000"/>
            </a:srgbClr>
          </a:solidFill>
          <a:ln w="25400">
            <a:solidFill>
              <a:srgbClr val="A855F7"/>
            </a:solidFill>
            <a:prstDash val="solid"/>
          </a:ln>
        </p:spPr>
      </p:sp>
      <p:sp>
        <p:nvSpPr>
          <p:cNvPr id="29" name="Text 26"/>
          <p:cNvSpPr txBox="1"/>
          <p:nvPr/>
        </p:nvSpPr>
        <p:spPr>
          <a:xfrm>
            <a:off x="7772400" y="14630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Ga</a:t>
            </a:r>
            <a:endParaRPr lang="en-US" sz="1600" dirty="0"/>
          </a:p>
        </p:txBody>
      </p:sp>
      <p:sp>
        <p:nvSpPr>
          <p:cNvPr id="30" name="Text 27"/>
          <p:cNvSpPr txBox="1"/>
          <p:nvPr/>
        </p:nvSpPr>
        <p:spPr>
          <a:xfrm>
            <a:off x="7315200" y="2240280"/>
            <a:ext cx="1554480" cy="274320"/>
          </a:xfrm>
          <a:prstGeom prst="rect">
            <a:avLst/>
          </a:prstGeom>
          <a:noFill/>
          <a:ln/>
        </p:spPr>
        <p:txBody>
          <a:bodyPr wrap="square" lIns="0" tIns="0" rIns="0" bIns="0" rtlCol="0" anchor="t"/>
          <a:lstStyle/>
          <a:p>
            <a:pPr marL="0" indent="0" algn="ctr">
              <a:buNone/>
            </a:pPr>
            <a:r>
              <a:rPr lang="en-US" sz="1300" b="1" dirty="0">
                <a:solidFill>
                  <a:srgbClr val="A855F7"/>
                </a:solidFill>
                <a:latin typeface="Segoe UI" pitchFamily="34" charset="0"/>
                <a:ea typeface="Segoe UI" pitchFamily="34" charset="-122"/>
                <a:cs typeface="Segoe UI" pitchFamily="34" charset="-120"/>
              </a:rPr>
              <a:t>Gantt Chart</a:t>
            </a:r>
            <a:endParaRPr lang="en-US" sz="1300" dirty="0"/>
          </a:p>
        </p:txBody>
      </p:sp>
      <p:sp>
        <p:nvSpPr>
          <p:cNvPr id="31" name="Text 28"/>
          <p:cNvSpPr txBox="1"/>
          <p:nvPr/>
        </p:nvSpPr>
        <p:spPr>
          <a:xfrm>
            <a:off x="7424928" y="2606040"/>
            <a:ext cx="1335024" cy="822960"/>
          </a:xfrm>
          <a:prstGeom prst="rect">
            <a:avLst/>
          </a:prstGeom>
          <a:noFill/>
          <a:ln/>
        </p:spPr>
        <p:txBody>
          <a:bodyPr wrap="square" lIns="0" tIns="0" rIns="0" bIns="0" rtlCol="0" anchor="t"/>
          <a:lstStyle/>
          <a:p>
            <a:pPr marL="0" indent="0" algn="ctr">
              <a:buNone/>
            </a:pPr>
            <a:r>
              <a:rPr lang="en-US" sz="1000" dirty="0">
                <a:solidFill>
                  <a:srgbClr val="94A3B8"/>
                </a:solidFill>
                <a:latin typeface="Segoe UI" pitchFamily="34" charset="0"/>
                <a:ea typeface="Segoe UI" pitchFamily="34" charset="-122"/>
                <a:cs typeface="Segoe UI" pitchFamily="34" charset="-120"/>
              </a:rPr>
              <a:t>Timeline view of CPU execution</a:t>
            </a:r>
            <a:endParaRPr lang="en-US" sz="1000" dirty="0"/>
          </a:p>
        </p:txBody>
      </p:sp>
      <p:sp>
        <p:nvSpPr>
          <p:cNvPr id="32" name="Text 29"/>
          <p:cNvSpPr txBox="1"/>
          <p:nvPr/>
        </p:nvSpPr>
        <p:spPr>
          <a:xfrm>
            <a:off x="457200" y="3794760"/>
            <a:ext cx="8229600" cy="365760"/>
          </a:xfrm>
          <a:prstGeom prst="rect">
            <a:avLst/>
          </a:prstGeom>
          <a:noFill/>
          <a:ln/>
        </p:spPr>
        <p:txBody>
          <a:bodyPr wrap="square" lIns="0" tIns="0" rIns="0" bIns="0" rtlCol="0" anchor="t"/>
          <a:lstStyle/>
          <a:p>
            <a:pPr marL="0" indent="0" algn="ctr">
              <a:buNone/>
            </a:pPr>
            <a:r>
              <a:rPr lang="en-US" sz="1400" b="1" dirty="0">
                <a:solidFill>
                  <a:srgbClr val="C4B5FD"/>
                </a:solidFill>
                <a:latin typeface="Segoe UI" pitchFamily="34" charset="0"/>
                <a:ea typeface="Segoe UI" pitchFamily="34" charset="-122"/>
                <a:cs typeface="Segoe UI" pitchFamily="34" charset="-120"/>
              </a:rPr>
              <a:t>Testing: automated test cases + sample process inputs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Working Prototype</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ILLUSTRATIVE MOCKUP — not a real screenshot. Replace with actual screenshots.</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7</a:t>
            </a:r>
            <a:endParaRPr lang="en-US" sz="800" dirty="0"/>
          </a:p>
        </p:txBody>
      </p:sp>
      <p:sp>
        <p:nvSpPr>
          <p:cNvPr id="7" name="Shape 4"/>
          <p:cNvSpPr/>
          <p:nvPr/>
        </p:nvSpPr>
        <p:spPr>
          <a:xfrm>
            <a:off x="457200" y="1051560"/>
            <a:ext cx="8229600" cy="3520440"/>
          </a:xfrm>
          <a:prstGeom prst="roundRect">
            <a:avLst>
              <a:gd name="adj" fmla="val 1558"/>
            </a:avLst>
          </a:prstGeom>
          <a:solidFill>
            <a:srgbClr val="0E1330"/>
          </a:solidFill>
          <a:ln w="19050">
            <a:solidFill>
              <a:srgbClr val="3B82F6"/>
            </a:solidFill>
            <a:prstDash val="solid"/>
          </a:ln>
          <a:effectLst>
            <a:outerShdw blurRad="177800" dist="50800" dir="16200000" algn="bl" rotWithShape="0">
              <a:srgbClr val="3B82F6">
                <a:alpha val="40000"/>
              </a:srgbClr>
            </a:outerShdw>
          </a:effectLst>
        </p:spPr>
      </p:sp>
      <p:sp>
        <p:nvSpPr>
          <p:cNvPr id="8" name="Shape 5"/>
          <p:cNvSpPr/>
          <p:nvPr/>
        </p:nvSpPr>
        <p:spPr>
          <a:xfrm>
            <a:off x="594360" y="1124712"/>
            <a:ext cx="109728" cy="109728"/>
          </a:xfrm>
          <a:prstGeom prst="ellipse">
            <a:avLst/>
          </a:prstGeom>
          <a:solidFill>
            <a:srgbClr val="F87171"/>
          </a:solidFill>
          <a:ln w="12700">
            <a:solidFill>
              <a:srgbClr val="F87171"/>
            </a:solidFill>
            <a:prstDash val="solid"/>
          </a:ln>
        </p:spPr>
      </p:sp>
      <p:sp>
        <p:nvSpPr>
          <p:cNvPr id="9" name="Shape 6"/>
          <p:cNvSpPr/>
          <p:nvPr/>
        </p:nvSpPr>
        <p:spPr>
          <a:xfrm>
            <a:off x="777240" y="1124712"/>
            <a:ext cx="109728" cy="109728"/>
          </a:xfrm>
          <a:prstGeom prst="ellipse">
            <a:avLst/>
          </a:prstGeom>
          <a:solidFill>
            <a:srgbClr val="FBBF24"/>
          </a:solidFill>
          <a:ln w="12700">
            <a:solidFill>
              <a:srgbClr val="FBBF24"/>
            </a:solidFill>
            <a:prstDash val="solid"/>
          </a:ln>
        </p:spPr>
      </p:sp>
      <p:sp>
        <p:nvSpPr>
          <p:cNvPr id="10" name="Shape 7"/>
          <p:cNvSpPr/>
          <p:nvPr/>
        </p:nvSpPr>
        <p:spPr>
          <a:xfrm>
            <a:off x="960120" y="1124712"/>
            <a:ext cx="109728" cy="109728"/>
          </a:xfrm>
          <a:prstGeom prst="ellipse">
            <a:avLst/>
          </a:prstGeom>
          <a:solidFill>
            <a:srgbClr val="34D399"/>
          </a:solidFill>
          <a:ln w="12700">
            <a:solidFill>
              <a:srgbClr val="34D399"/>
            </a:solidFill>
            <a:prstDash val="solid"/>
          </a:ln>
        </p:spPr>
      </p:sp>
      <p:sp>
        <p:nvSpPr>
          <p:cNvPr id="11" name="Text 8"/>
          <p:cNvSpPr txBox="1"/>
          <p:nvPr/>
        </p:nvSpPr>
        <p:spPr>
          <a:xfrm>
            <a:off x="1828800" y="1097280"/>
            <a:ext cx="4572000" cy="182880"/>
          </a:xfrm>
          <a:prstGeom prst="rect">
            <a:avLst/>
          </a:prstGeom>
          <a:noFill/>
          <a:ln/>
        </p:spPr>
        <p:txBody>
          <a:bodyPr wrap="square" lIns="0" tIns="0" rIns="0" bIns="0" rtlCol="0" anchor="t"/>
          <a:lstStyle/>
          <a:p>
            <a:pPr marL="0" indent="0">
              <a:buNone/>
            </a:pPr>
            <a:r>
              <a:rPr lang="en-US" sz="900" dirty="0">
                <a:solidFill>
                  <a:srgbClr val="94A3B8"/>
                </a:solidFill>
                <a:latin typeface="Segoe UI" pitchFamily="34" charset="0"/>
                <a:ea typeface="Segoe UI" pitchFamily="34" charset="-122"/>
                <a:cs typeface="Segoe UI" pitchFamily="34" charset="-120"/>
              </a:rPr>
              <a:t>Smart CPU Scheduler — Dashboard (mockup)</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2926080" cy="1188720"/>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37744">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PID</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AT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BT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BP</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1"/>
                  </a:ext>
                </a:extLst>
              </a:tr>
              <a:tr h="237744">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2"/>
                  </a:ext>
                </a:extLst>
              </a:tr>
              <a:tr h="237744">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3"/>
                  </a:ext>
                </a:extLst>
              </a:tr>
              <a:tr h="237744">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4"/>
                  </a:ext>
                </a:extLst>
              </a:tr>
            </a:tbl>
          </a:graphicData>
        </a:graphic>
      </p:graphicFrame>
      <p:sp>
        <p:nvSpPr>
          <p:cNvPr id="13" name="Text 9"/>
          <p:cNvSpPr txBox="1"/>
          <p:nvPr/>
        </p:nvSpPr>
        <p:spPr>
          <a:xfrm>
            <a:off x="640080" y="2743200"/>
            <a:ext cx="2926080" cy="457200"/>
          </a:xfrm>
          <a:prstGeom prst="rect">
            <a:avLst/>
          </a:prstGeom>
          <a:noFill/>
          <a:ln/>
        </p:spPr>
        <p:txBody>
          <a:bodyPr wrap="square" lIns="0" tIns="0" rIns="0" bIns="0" rtlCol="0" anchor="t"/>
          <a:lstStyle/>
          <a:p>
            <a:pPr marL="0" indent="0">
              <a:buNone/>
            </a:pPr>
            <a:r>
              <a:rPr lang="en-US" sz="900" dirty="0">
                <a:solidFill>
                  <a:srgbClr val="C4B5FD"/>
                </a:solidFill>
                <a:latin typeface="Segoe UI" pitchFamily="34" charset="0"/>
                <a:ea typeface="Segoe UI" pitchFamily="34" charset="-122"/>
                <a:cs typeface="Segoe UI" pitchFamily="34" charset="-120"/>
              </a:rPr>
              <a:t>Mode: [● Non-preemptive  ○ Preemptive]</a:t>
            </a:r>
            <a:endParaRPr lang="en-US" sz="900" dirty="0"/>
          </a:p>
          <a:p>
            <a:pPr marL="0" indent="0">
              <a:buNone/>
            </a:pPr>
            <a:r>
              <a:rPr lang="en-US" sz="900" dirty="0">
                <a:solidFill>
                  <a:srgbClr val="C4B5FD"/>
                </a:solidFill>
                <a:latin typeface="Segoe UI" pitchFamily="34" charset="0"/>
                <a:ea typeface="Segoe UI" pitchFamily="34" charset="-122"/>
                <a:cs typeface="Segoe UI" pitchFamily="34" charset="-120"/>
              </a:rPr>
              <a:t>Aging interval: [ 2 ]    [ Run ]</a:t>
            </a:r>
            <a:endParaRPr lang="en-US" sz="900" dirty="0"/>
          </a:p>
        </p:txBody>
      </p:sp>
      <p:sp>
        <p:nvSpPr>
          <p:cNvPr id="14" name="Text 10"/>
          <p:cNvSpPr txBox="1"/>
          <p:nvPr/>
        </p:nvSpPr>
        <p:spPr>
          <a:xfrm>
            <a:off x="3840480" y="1371600"/>
            <a:ext cx="2743200" cy="228600"/>
          </a:xfrm>
          <a:prstGeom prst="rect">
            <a:avLst/>
          </a:prstGeom>
          <a:noFill/>
          <a:ln/>
        </p:spPr>
        <p:txBody>
          <a:bodyPr wrap="square" lIns="0" tIns="0" rIns="0" bIns="0" rtlCol="0" anchor="t"/>
          <a:lstStyle/>
          <a:p>
            <a:pPr marL="0" indent="0">
              <a:buNone/>
            </a:pPr>
            <a:r>
              <a:rPr lang="en-US" sz="1100" b="1" dirty="0">
                <a:solidFill>
                  <a:srgbClr val="C4B5FD"/>
                </a:solidFill>
                <a:latin typeface="Segoe UI" pitchFamily="34" charset="0"/>
                <a:ea typeface="Segoe UI" pitchFamily="34" charset="-122"/>
                <a:cs typeface="Segoe UI" pitchFamily="34" charset="-120"/>
              </a:rPr>
              <a:t>Gantt Chart</a:t>
            </a:r>
            <a:endParaRPr lang="en-US" sz="1100" dirty="0"/>
          </a:p>
        </p:txBody>
      </p:sp>
      <p:sp>
        <p:nvSpPr>
          <p:cNvPr id="15" name="Shape 11"/>
          <p:cNvSpPr/>
          <p:nvPr/>
        </p:nvSpPr>
        <p:spPr>
          <a:xfrm>
            <a:off x="3840480" y="1691640"/>
            <a:ext cx="1554480" cy="457200"/>
          </a:xfrm>
          <a:prstGeom prst="rect">
            <a:avLst/>
          </a:prstGeom>
          <a:solidFill>
            <a:srgbClr val="8B5CF6"/>
          </a:solidFill>
          <a:ln w="19050">
            <a:solidFill>
              <a:srgbClr val="0B1020"/>
            </a:solidFill>
            <a:prstDash val="solid"/>
          </a:ln>
        </p:spPr>
      </p:sp>
      <p:sp>
        <p:nvSpPr>
          <p:cNvPr id="16" name="Text 12"/>
          <p:cNvSpPr txBox="1"/>
          <p:nvPr/>
        </p:nvSpPr>
        <p:spPr>
          <a:xfrm>
            <a:off x="3840480" y="1691640"/>
            <a:ext cx="15544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P1</a:t>
            </a:r>
            <a:endParaRPr lang="en-US" sz="1100" dirty="0"/>
          </a:p>
        </p:txBody>
      </p:sp>
      <p:sp>
        <p:nvSpPr>
          <p:cNvPr id="17" name="Shape 13"/>
          <p:cNvSpPr/>
          <p:nvPr/>
        </p:nvSpPr>
        <p:spPr>
          <a:xfrm>
            <a:off x="5394960" y="1691640"/>
            <a:ext cx="1036320" cy="457200"/>
          </a:xfrm>
          <a:prstGeom prst="rect">
            <a:avLst/>
          </a:prstGeom>
          <a:solidFill>
            <a:srgbClr val="3B82F6"/>
          </a:solidFill>
          <a:ln w="19050">
            <a:solidFill>
              <a:srgbClr val="0B1020"/>
            </a:solidFill>
            <a:prstDash val="solid"/>
          </a:ln>
        </p:spPr>
      </p:sp>
      <p:sp>
        <p:nvSpPr>
          <p:cNvPr id="18" name="Text 14"/>
          <p:cNvSpPr txBox="1"/>
          <p:nvPr/>
        </p:nvSpPr>
        <p:spPr>
          <a:xfrm>
            <a:off x="5394960" y="1691640"/>
            <a:ext cx="10363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P3</a:t>
            </a:r>
            <a:endParaRPr lang="en-US" sz="1100" dirty="0"/>
          </a:p>
        </p:txBody>
      </p:sp>
      <p:sp>
        <p:nvSpPr>
          <p:cNvPr id="19" name="Shape 15"/>
          <p:cNvSpPr/>
          <p:nvPr/>
        </p:nvSpPr>
        <p:spPr>
          <a:xfrm>
            <a:off x="6431280" y="1691640"/>
            <a:ext cx="1036320" cy="457200"/>
          </a:xfrm>
          <a:prstGeom prst="rect">
            <a:avLst/>
          </a:prstGeom>
          <a:solidFill>
            <a:srgbClr val="06B6D4"/>
          </a:solidFill>
          <a:ln w="19050">
            <a:solidFill>
              <a:srgbClr val="0B1020"/>
            </a:solidFill>
            <a:prstDash val="solid"/>
          </a:ln>
        </p:spPr>
      </p:sp>
      <p:sp>
        <p:nvSpPr>
          <p:cNvPr id="20" name="Text 16"/>
          <p:cNvSpPr txBox="1"/>
          <p:nvPr/>
        </p:nvSpPr>
        <p:spPr>
          <a:xfrm>
            <a:off x="6431280" y="1691640"/>
            <a:ext cx="10363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P2</a:t>
            </a:r>
            <a:endParaRPr lang="en-US" sz="1100" dirty="0"/>
          </a:p>
        </p:txBody>
      </p:sp>
      <p:sp>
        <p:nvSpPr>
          <p:cNvPr id="21" name="Shape 17"/>
          <p:cNvSpPr/>
          <p:nvPr/>
        </p:nvSpPr>
        <p:spPr>
          <a:xfrm>
            <a:off x="7467600" y="1691640"/>
            <a:ext cx="1036320" cy="457200"/>
          </a:xfrm>
          <a:prstGeom prst="rect">
            <a:avLst/>
          </a:prstGeom>
          <a:solidFill>
            <a:srgbClr val="A855F7"/>
          </a:solidFill>
          <a:ln w="19050">
            <a:solidFill>
              <a:srgbClr val="0B1020"/>
            </a:solidFill>
            <a:prstDash val="solid"/>
          </a:ln>
        </p:spPr>
      </p:sp>
      <p:sp>
        <p:nvSpPr>
          <p:cNvPr id="22" name="Text 18"/>
          <p:cNvSpPr txBox="1"/>
          <p:nvPr/>
        </p:nvSpPr>
        <p:spPr>
          <a:xfrm>
            <a:off x="7467600" y="1691640"/>
            <a:ext cx="10363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P4</a:t>
            </a:r>
            <a:endParaRPr lang="en-US" sz="1100" dirty="0"/>
          </a:p>
        </p:txBody>
      </p:sp>
      <p:sp>
        <p:nvSpPr>
          <p:cNvPr id="23" name="Text 19"/>
          <p:cNvSpPr txBox="1"/>
          <p:nvPr/>
        </p:nvSpPr>
        <p:spPr>
          <a:xfrm>
            <a:off x="374904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0</a:t>
            </a:r>
            <a:endParaRPr lang="en-US" sz="800" dirty="0"/>
          </a:p>
        </p:txBody>
      </p:sp>
      <p:sp>
        <p:nvSpPr>
          <p:cNvPr id="24" name="Text 20"/>
          <p:cNvSpPr txBox="1"/>
          <p:nvPr/>
        </p:nvSpPr>
        <p:spPr>
          <a:xfrm>
            <a:off x="426720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1</a:t>
            </a:r>
            <a:endParaRPr lang="en-US" sz="800" dirty="0"/>
          </a:p>
        </p:txBody>
      </p:sp>
      <p:sp>
        <p:nvSpPr>
          <p:cNvPr id="25" name="Text 21"/>
          <p:cNvSpPr txBox="1"/>
          <p:nvPr/>
        </p:nvSpPr>
        <p:spPr>
          <a:xfrm>
            <a:off x="478536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2</a:t>
            </a:r>
            <a:endParaRPr lang="en-US" sz="800" dirty="0"/>
          </a:p>
        </p:txBody>
      </p:sp>
      <p:sp>
        <p:nvSpPr>
          <p:cNvPr id="26" name="Text 22"/>
          <p:cNvSpPr txBox="1"/>
          <p:nvPr/>
        </p:nvSpPr>
        <p:spPr>
          <a:xfrm>
            <a:off x="530352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3</a:t>
            </a:r>
            <a:endParaRPr lang="en-US" sz="800" dirty="0"/>
          </a:p>
        </p:txBody>
      </p:sp>
      <p:sp>
        <p:nvSpPr>
          <p:cNvPr id="27" name="Text 23"/>
          <p:cNvSpPr txBox="1"/>
          <p:nvPr/>
        </p:nvSpPr>
        <p:spPr>
          <a:xfrm>
            <a:off x="582168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4</a:t>
            </a:r>
            <a:endParaRPr lang="en-US" sz="800" dirty="0"/>
          </a:p>
        </p:txBody>
      </p:sp>
      <p:sp>
        <p:nvSpPr>
          <p:cNvPr id="28" name="Text 24"/>
          <p:cNvSpPr txBox="1"/>
          <p:nvPr/>
        </p:nvSpPr>
        <p:spPr>
          <a:xfrm>
            <a:off x="633984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5</a:t>
            </a:r>
            <a:endParaRPr lang="en-US" sz="800" dirty="0"/>
          </a:p>
        </p:txBody>
      </p:sp>
      <p:sp>
        <p:nvSpPr>
          <p:cNvPr id="29" name="Text 25"/>
          <p:cNvSpPr txBox="1"/>
          <p:nvPr/>
        </p:nvSpPr>
        <p:spPr>
          <a:xfrm>
            <a:off x="685800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6</a:t>
            </a:r>
            <a:endParaRPr lang="en-US" sz="800" dirty="0"/>
          </a:p>
        </p:txBody>
      </p:sp>
      <p:sp>
        <p:nvSpPr>
          <p:cNvPr id="30" name="Text 26"/>
          <p:cNvSpPr txBox="1"/>
          <p:nvPr/>
        </p:nvSpPr>
        <p:spPr>
          <a:xfrm>
            <a:off x="737616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7</a:t>
            </a:r>
            <a:endParaRPr lang="en-US" sz="800" dirty="0"/>
          </a:p>
        </p:txBody>
      </p:sp>
      <p:sp>
        <p:nvSpPr>
          <p:cNvPr id="31" name="Text 27"/>
          <p:cNvSpPr txBox="1"/>
          <p:nvPr/>
        </p:nvSpPr>
        <p:spPr>
          <a:xfrm>
            <a:off x="789432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8</a:t>
            </a:r>
            <a:endParaRPr lang="en-US" sz="800" dirty="0"/>
          </a:p>
        </p:txBody>
      </p:sp>
      <p:sp>
        <p:nvSpPr>
          <p:cNvPr id="32" name="Text 28"/>
          <p:cNvSpPr txBox="1"/>
          <p:nvPr/>
        </p:nvSpPr>
        <p:spPr>
          <a:xfrm>
            <a:off x="8412480" y="21762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9</a:t>
            </a:r>
            <a:endParaRPr lang="en-US" sz="800" dirty="0"/>
          </a:p>
        </p:txBody>
      </p:sp>
      <p:sp>
        <p:nvSpPr>
          <p:cNvPr id="33" name="Shape 29"/>
          <p:cNvSpPr/>
          <p:nvPr/>
        </p:nvSpPr>
        <p:spPr>
          <a:xfrm>
            <a:off x="3840480" y="2697480"/>
            <a:ext cx="1463040" cy="731520"/>
          </a:xfrm>
          <a:prstGeom prst="roundRect">
            <a:avLst>
              <a:gd name="adj" fmla="val 10000"/>
            </a:avLst>
          </a:prstGeom>
          <a:solidFill>
            <a:srgbClr val="151B34"/>
          </a:solidFill>
          <a:ln w="12700">
            <a:solidFill>
              <a:srgbClr val="8B5CF6"/>
            </a:solidFill>
            <a:prstDash val="solid"/>
          </a:ln>
        </p:spPr>
      </p:sp>
      <p:sp>
        <p:nvSpPr>
          <p:cNvPr id="34" name="Text 30"/>
          <p:cNvSpPr txBox="1"/>
          <p:nvPr/>
        </p:nvSpPr>
        <p:spPr>
          <a:xfrm>
            <a:off x="3840480" y="2743200"/>
            <a:ext cx="1463040" cy="228600"/>
          </a:xfrm>
          <a:prstGeom prst="rect">
            <a:avLst/>
          </a:prstGeom>
          <a:noFill/>
          <a:ln/>
        </p:spPr>
        <p:txBody>
          <a:bodyPr wrap="square" lIns="0" tIns="0" rIns="0" bIns="0" rtlCol="0" anchor="t"/>
          <a:lstStyle/>
          <a:p>
            <a:pPr marL="0" indent="0" algn="ctr">
              <a:buNone/>
            </a:pPr>
            <a:r>
              <a:rPr lang="en-US" sz="900" dirty="0">
                <a:solidFill>
                  <a:srgbClr val="94A3B8"/>
                </a:solidFill>
                <a:latin typeface="Segoe UI" pitchFamily="34" charset="0"/>
                <a:ea typeface="Segoe UI" pitchFamily="34" charset="-122"/>
                <a:cs typeface="Segoe UI" pitchFamily="34" charset="-120"/>
              </a:rPr>
              <a:t>Avg WT</a:t>
            </a:r>
            <a:endParaRPr lang="en-US" sz="900" dirty="0"/>
          </a:p>
        </p:txBody>
      </p:sp>
      <p:sp>
        <p:nvSpPr>
          <p:cNvPr id="35" name="Text 31"/>
          <p:cNvSpPr txBox="1"/>
          <p:nvPr/>
        </p:nvSpPr>
        <p:spPr>
          <a:xfrm>
            <a:off x="3840480" y="2999232"/>
            <a:ext cx="146304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Segoe UI" pitchFamily="34" charset="0"/>
                <a:ea typeface="Segoe UI" pitchFamily="34" charset="-122"/>
                <a:cs typeface="Segoe UI" pitchFamily="34" charset="-120"/>
              </a:rPr>
              <a:t>2.25</a:t>
            </a:r>
            <a:endParaRPr lang="en-US" sz="1800" dirty="0"/>
          </a:p>
        </p:txBody>
      </p:sp>
      <p:sp>
        <p:nvSpPr>
          <p:cNvPr id="36" name="Shape 32"/>
          <p:cNvSpPr/>
          <p:nvPr/>
        </p:nvSpPr>
        <p:spPr>
          <a:xfrm>
            <a:off x="5440680" y="2697480"/>
            <a:ext cx="1463040" cy="731520"/>
          </a:xfrm>
          <a:prstGeom prst="roundRect">
            <a:avLst>
              <a:gd name="adj" fmla="val 10000"/>
            </a:avLst>
          </a:prstGeom>
          <a:solidFill>
            <a:srgbClr val="151B34"/>
          </a:solidFill>
          <a:ln w="12700">
            <a:solidFill>
              <a:srgbClr val="8B5CF6"/>
            </a:solidFill>
            <a:prstDash val="solid"/>
          </a:ln>
        </p:spPr>
      </p:sp>
      <p:sp>
        <p:nvSpPr>
          <p:cNvPr id="37" name="Text 33"/>
          <p:cNvSpPr txBox="1"/>
          <p:nvPr/>
        </p:nvSpPr>
        <p:spPr>
          <a:xfrm>
            <a:off x="5440680" y="2743200"/>
            <a:ext cx="1463040" cy="228600"/>
          </a:xfrm>
          <a:prstGeom prst="rect">
            <a:avLst/>
          </a:prstGeom>
          <a:noFill/>
          <a:ln/>
        </p:spPr>
        <p:txBody>
          <a:bodyPr wrap="square" lIns="0" tIns="0" rIns="0" bIns="0" rtlCol="0" anchor="t"/>
          <a:lstStyle/>
          <a:p>
            <a:pPr marL="0" indent="0" algn="ctr">
              <a:buNone/>
            </a:pPr>
            <a:r>
              <a:rPr lang="en-US" sz="900" dirty="0">
                <a:solidFill>
                  <a:srgbClr val="94A3B8"/>
                </a:solidFill>
                <a:latin typeface="Segoe UI" pitchFamily="34" charset="0"/>
                <a:ea typeface="Segoe UI" pitchFamily="34" charset="-122"/>
                <a:cs typeface="Segoe UI" pitchFamily="34" charset="-120"/>
              </a:rPr>
              <a:t>Avg TAT</a:t>
            </a:r>
            <a:endParaRPr lang="en-US" sz="900" dirty="0"/>
          </a:p>
        </p:txBody>
      </p:sp>
      <p:sp>
        <p:nvSpPr>
          <p:cNvPr id="38" name="Text 34"/>
          <p:cNvSpPr txBox="1"/>
          <p:nvPr/>
        </p:nvSpPr>
        <p:spPr>
          <a:xfrm>
            <a:off x="5440680" y="2999232"/>
            <a:ext cx="146304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Segoe UI" pitchFamily="34" charset="0"/>
                <a:ea typeface="Segoe UI" pitchFamily="34" charset="-122"/>
                <a:cs typeface="Segoe UI" pitchFamily="34" charset="-120"/>
              </a:rPr>
              <a:t>4.50</a:t>
            </a:r>
            <a:endParaRPr lang="en-US" sz="1800" dirty="0"/>
          </a:p>
        </p:txBody>
      </p:sp>
      <p:sp>
        <p:nvSpPr>
          <p:cNvPr id="39" name="Shape 35"/>
          <p:cNvSpPr/>
          <p:nvPr/>
        </p:nvSpPr>
        <p:spPr>
          <a:xfrm>
            <a:off x="7040880" y="2697480"/>
            <a:ext cx="1463040" cy="731520"/>
          </a:xfrm>
          <a:prstGeom prst="roundRect">
            <a:avLst>
              <a:gd name="adj" fmla="val 10000"/>
            </a:avLst>
          </a:prstGeom>
          <a:solidFill>
            <a:srgbClr val="151B34"/>
          </a:solidFill>
          <a:ln w="12700">
            <a:solidFill>
              <a:srgbClr val="8B5CF6"/>
            </a:solidFill>
            <a:prstDash val="solid"/>
          </a:ln>
        </p:spPr>
      </p:sp>
      <p:sp>
        <p:nvSpPr>
          <p:cNvPr id="40" name="Text 36"/>
          <p:cNvSpPr txBox="1"/>
          <p:nvPr/>
        </p:nvSpPr>
        <p:spPr>
          <a:xfrm>
            <a:off x="7040880" y="2743200"/>
            <a:ext cx="1463040" cy="228600"/>
          </a:xfrm>
          <a:prstGeom prst="rect">
            <a:avLst/>
          </a:prstGeom>
          <a:noFill/>
          <a:ln/>
        </p:spPr>
        <p:txBody>
          <a:bodyPr wrap="square" lIns="0" tIns="0" rIns="0" bIns="0" rtlCol="0" anchor="t"/>
          <a:lstStyle/>
          <a:p>
            <a:pPr marL="0" indent="0" algn="ctr">
              <a:buNone/>
            </a:pPr>
            <a:r>
              <a:rPr lang="en-US" sz="900" dirty="0">
                <a:solidFill>
                  <a:srgbClr val="94A3B8"/>
                </a:solidFill>
                <a:latin typeface="Segoe UI" pitchFamily="34" charset="0"/>
                <a:ea typeface="Segoe UI" pitchFamily="34" charset="-122"/>
                <a:cs typeface="Segoe UI" pitchFamily="34" charset="-120"/>
              </a:rPr>
              <a:t>Avg RT</a:t>
            </a:r>
            <a:endParaRPr lang="en-US" sz="900" dirty="0"/>
          </a:p>
        </p:txBody>
      </p:sp>
      <p:sp>
        <p:nvSpPr>
          <p:cNvPr id="41" name="Text 37"/>
          <p:cNvSpPr txBox="1"/>
          <p:nvPr/>
        </p:nvSpPr>
        <p:spPr>
          <a:xfrm>
            <a:off x="7040880" y="2999232"/>
            <a:ext cx="1463040" cy="365760"/>
          </a:xfrm>
          <a:prstGeom prst="rect">
            <a:avLst/>
          </a:prstGeom>
          <a:noFill/>
          <a:ln/>
        </p:spPr>
        <p:txBody>
          <a:bodyPr wrap="square" lIns="0" tIns="0" rIns="0" bIns="0" rtlCol="0" anchor="t"/>
          <a:lstStyle/>
          <a:p>
            <a:pPr marL="0" indent="0" algn="ctr">
              <a:buNone/>
            </a:pPr>
            <a:r>
              <a:rPr lang="en-US" sz="1800" b="1" dirty="0">
                <a:solidFill>
                  <a:srgbClr val="FFFFFF"/>
                </a:solidFill>
                <a:latin typeface="Segoe UI" pitchFamily="34" charset="0"/>
                <a:ea typeface="Segoe UI" pitchFamily="34" charset="-122"/>
                <a:cs typeface="Segoe UI" pitchFamily="34" charset="-120"/>
              </a:rPr>
              <a:t>2.25</a:t>
            </a:r>
            <a:endParaRPr lang="en-US" sz="1800" dirty="0"/>
          </a:p>
        </p:txBody>
      </p:sp>
      <p:sp>
        <p:nvSpPr>
          <p:cNvPr id="42" name="Text 38"/>
          <p:cNvSpPr txBox="1"/>
          <p:nvPr/>
        </p:nvSpPr>
        <p:spPr>
          <a:xfrm>
            <a:off x="640080" y="3657600"/>
            <a:ext cx="7772400" cy="228600"/>
          </a:xfrm>
          <a:prstGeom prst="rect">
            <a:avLst/>
          </a:prstGeom>
          <a:noFill/>
          <a:ln/>
        </p:spPr>
        <p:txBody>
          <a:bodyPr wrap="square" lIns="0" tIns="0" rIns="0" bIns="0" rtlCol="0" anchor="t"/>
          <a:lstStyle/>
          <a:p>
            <a:pPr marL="0" indent="0">
              <a:buNone/>
            </a:pPr>
            <a:r>
              <a:rPr lang="en-US" sz="900" dirty="0">
                <a:solidFill>
                  <a:srgbClr val="FBBF24"/>
                </a:solidFill>
                <a:latin typeface="Segoe UI" pitchFamily="34" charset="0"/>
                <a:ea typeface="Segoe UI" pitchFamily="34" charset="-122"/>
                <a:cs typeface="Segoe UI" pitchFamily="34" charset="-120"/>
              </a:rPr>
              <a:t>Illustrative sample values (hand-calculated, see slide 9)</a:t>
            </a:r>
            <a:endParaRPr lang="en-US" sz="900" dirty="0"/>
          </a:p>
        </p:txBody>
      </p:sp>
      <p:sp>
        <p:nvSpPr>
          <p:cNvPr id="43" name="Text 39"/>
          <p:cNvSpPr txBox="1"/>
          <p:nvPr/>
        </p:nvSpPr>
        <p:spPr>
          <a:xfrm>
            <a:off x="640080" y="4023360"/>
            <a:ext cx="7772400" cy="27432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Features: input validation • duplicate-ID check • mode toggle • aging config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Testing &amp; Validation</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Actual results stay "Pending" until tests are run</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00400"/>
        </p:xfrm>
        <a:graphic>
          <a:graphicData uri="http://schemas.openxmlformats.org/drawingml/2006/table">
            <a:tbl>
              <a:tblPr/>
              <a:tblGrid>
                <a:gridCol w="1554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7200">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Test case</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Input / scenario</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Expected result</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1000" b="1" dirty="0">
                          <a:solidFill>
                            <a:srgbClr val="FFFFFF"/>
                          </a:solidFill>
                          <a:latin typeface="Segoe UI" pitchFamily="34" charset="0"/>
                          <a:ea typeface="Segoe UI" pitchFamily="34" charset="-122"/>
                          <a:cs typeface="Segoe UI" pitchFamily="34" charset="-120"/>
                        </a:rPr>
                        <a:t>Actual</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Different priorities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P1 BP3, P2 BP1, both arrive at 0</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P2 runs first (lower number = higher priority)</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1"/>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Long wait + aging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Low-priority process waits while others arrive</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Effective priority drops with waiting; process is eventually selected</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2"/>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Different arrivals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Arrival times 0, 2, 5; gaps in arrivals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Only arrived processes are scheduled; idle gap shown</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3"/>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Equal priorities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Same effective priority</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Earlier arrival first, then smaller Process ID</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4"/>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Empty / invalid input</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No rows, negative values, burst 0, duplicate ID, AI ≤ 0</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Clear error message; no schedule produced</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5"/>
                  </a:ext>
                </a:extLst>
              </a:tr>
              <a:tr h="457200">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Both modes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Same input, run both modes</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E5E7EB"/>
                          </a:solidFill>
                          <a:latin typeface="Segoe UI" pitchFamily="34" charset="0"/>
                          <a:ea typeface="Segoe UI" pitchFamily="34" charset="-122"/>
                          <a:cs typeface="Segoe UI" pitchFamily="34" charset="-120"/>
                        </a:rPr>
                        <a:t>Non-preemptive: runs to end; preemptive: can be interrupted</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000" dirty="0">
                          <a:solidFill>
                            <a:srgbClr val="FBBF24"/>
                          </a:solidFill>
                          <a:latin typeface="Segoe UI" pitchFamily="34" charset="0"/>
                          <a:ea typeface="Segoe UI" pitchFamily="34" charset="-122"/>
                          <a:cs typeface="Segoe UI" pitchFamily="34" charset="-120"/>
                        </a:rPr>
                        <a:t>Pending</a:t>
                      </a:r>
                      <a:endParaRPr lang="en-US" sz="10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Results &amp; Performance Analysis</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Illustrative hand calculation — not measured results</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9</a:t>
            </a:r>
            <a:endParaRPr lang="en-US" sz="800" dirty="0"/>
          </a:p>
        </p:txBody>
      </p:sp>
      <p:sp>
        <p:nvSpPr>
          <p:cNvPr id="7" name="Shape 4"/>
          <p:cNvSpPr/>
          <p:nvPr/>
        </p:nvSpPr>
        <p:spPr>
          <a:xfrm>
            <a:off x="457200" y="1051560"/>
            <a:ext cx="1920240" cy="685800"/>
          </a:xfrm>
          <a:prstGeom prst="roundRect">
            <a:avLst>
              <a:gd name="adj" fmla="val 10667"/>
            </a:avLst>
          </a:prstGeom>
          <a:solidFill>
            <a:srgbClr val="151B34"/>
          </a:solidFill>
          <a:ln w="12700">
            <a:solidFill>
              <a:srgbClr val="8B5CF6"/>
            </a:solidFill>
            <a:prstDash val="solid"/>
          </a:ln>
        </p:spPr>
      </p:sp>
      <p:sp>
        <p:nvSpPr>
          <p:cNvPr id="8" name="Text 5"/>
          <p:cNvSpPr txBox="1"/>
          <p:nvPr/>
        </p:nvSpPr>
        <p:spPr>
          <a:xfrm>
            <a:off x="548640" y="1078992"/>
            <a:ext cx="1737360" cy="228600"/>
          </a:xfrm>
          <a:prstGeom prst="rect">
            <a:avLst/>
          </a:prstGeom>
          <a:noFill/>
          <a:ln/>
        </p:spPr>
        <p:txBody>
          <a:bodyPr wrap="square" lIns="0" tIns="0" rIns="0" bIns="0" rtlCol="0" anchor="t"/>
          <a:lstStyle/>
          <a:p>
            <a:pPr marL="0" indent="0">
              <a:buNone/>
            </a:pPr>
            <a:r>
              <a:rPr lang="en-US" sz="1100" b="1" dirty="0">
                <a:solidFill>
                  <a:srgbClr val="C4B5FD"/>
                </a:solidFill>
                <a:latin typeface="Segoe UI" pitchFamily="34" charset="0"/>
                <a:ea typeface="Segoe UI" pitchFamily="34" charset="-122"/>
                <a:cs typeface="Segoe UI" pitchFamily="34" charset="-120"/>
              </a:rPr>
              <a:t>Completion (CT)</a:t>
            </a:r>
            <a:endParaRPr lang="en-US" sz="1100" dirty="0"/>
          </a:p>
        </p:txBody>
      </p:sp>
      <p:sp>
        <p:nvSpPr>
          <p:cNvPr id="9" name="Text 6"/>
          <p:cNvSpPr txBox="1"/>
          <p:nvPr/>
        </p:nvSpPr>
        <p:spPr>
          <a:xfrm>
            <a:off x="548640" y="1371600"/>
            <a:ext cx="1737360" cy="274320"/>
          </a:xfrm>
          <a:prstGeom prst="rect">
            <a:avLst/>
          </a:prstGeom>
          <a:noFill/>
          <a:ln/>
        </p:spPr>
        <p:txBody>
          <a:bodyPr wrap="square" lIns="0" tIns="0" rIns="0" bIns="0" rtlCol="0" anchor="t"/>
          <a:lstStyle/>
          <a:p>
            <a:pPr marL="0" indent="0">
              <a:buNone/>
            </a:pPr>
            <a:r>
              <a:rPr lang="en-US" sz="1000" dirty="0">
                <a:solidFill>
                  <a:srgbClr val="E5E7EB"/>
                </a:solidFill>
                <a:latin typeface="Segoe UI" pitchFamily="34" charset="0"/>
                <a:ea typeface="Segoe UI" pitchFamily="34" charset="-122"/>
                <a:cs typeface="Segoe UI" pitchFamily="34" charset="-120"/>
              </a:rPr>
              <a:t>Time a process finishes</a:t>
            </a:r>
            <a:endParaRPr lang="en-US" sz="1000" dirty="0"/>
          </a:p>
        </p:txBody>
      </p:sp>
      <p:sp>
        <p:nvSpPr>
          <p:cNvPr id="10" name="Shape 7"/>
          <p:cNvSpPr/>
          <p:nvPr/>
        </p:nvSpPr>
        <p:spPr>
          <a:xfrm>
            <a:off x="2532888" y="1051560"/>
            <a:ext cx="1920240" cy="685800"/>
          </a:xfrm>
          <a:prstGeom prst="roundRect">
            <a:avLst>
              <a:gd name="adj" fmla="val 10667"/>
            </a:avLst>
          </a:prstGeom>
          <a:solidFill>
            <a:srgbClr val="151B34"/>
          </a:solidFill>
          <a:ln w="12700">
            <a:solidFill>
              <a:srgbClr val="3B82F6"/>
            </a:solidFill>
            <a:prstDash val="solid"/>
          </a:ln>
        </p:spPr>
      </p:sp>
      <p:sp>
        <p:nvSpPr>
          <p:cNvPr id="11" name="Text 8"/>
          <p:cNvSpPr txBox="1"/>
          <p:nvPr/>
        </p:nvSpPr>
        <p:spPr>
          <a:xfrm>
            <a:off x="2624328" y="1078992"/>
            <a:ext cx="1737360" cy="228600"/>
          </a:xfrm>
          <a:prstGeom prst="rect">
            <a:avLst/>
          </a:prstGeom>
          <a:noFill/>
          <a:ln/>
        </p:spPr>
        <p:txBody>
          <a:bodyPr wrap="square" lIns="0" tIns="0" rIns="0" bIns="0" rtlCol="0" anchor="t"/>
          <a:lstStyle/>
          <a:p>
            <a:pPr marL="0" indent="0">
              <a:buNone/>
            </a:pPr>
            <a:r>
              <a:rPr lang="en-US" sz="1100" b="1" dirty="0">
                <a:solidFill>
                  <a:srgbClr val="C4B5FD"/>
                </a:solidFill>
                <a:latin typeface="Segoe UI" pitchFamily="34" charset="0"/>
                <a:ea typeface="Segoe UI" pitchFamily="34" charset="-122"/>
                <a:cs typeface="Segoe UI" pitchFamily="34" charset="-120"/>
              </a:rPr>
              <a:t>Turnaround</a:t>
            </a:r>
            <a:endParaRPr lang="en-US" sz="1100" dirty="0"/>
          </a:p>
        </p:txBody>
      </p:sp>
      <p:sp>
        <p:nvSpPr>
          <p:cNvPr id="12" name="Text 9"/>
          <p:cNvSpPr txBox="1"/>
          <p:nvPr/>
        </p:nvSpPr>
        <p:spPr>
          <a:xfrm>
            <a:off x="2624328" y="1371600"/>
            <a:ext cx="1737360" cy="274320"/>
          </a:xfrm>
          <a:prstGeom prst="rect">
            <a:avLst/>
          </a:prstGeom>
          <a:noFill/>
          <a:ln/>
        </p:spPr>
        <p:txBody>
          <a:bodyPr wrap="square" lIns="0" tIns="0" rIns="0" bIns="0" rtlCol="0" anchor="t"/>
          <a:lstStyle/>
          <a:p>
            <a:pPr marL="0" indent="0">
              <a:buNone/>
            </a:pPr>
            <a:r>
              <a:rPr lang="en-US" sz="1000" dirty="0">
                <a:solidFill>
                  <a:srgbClr val="E5E7EB"/>
                </a:solidFill>
                <a:latin typeface="Segoe UI" pitchFamily="34" charset="0"/>
                <a:ea typeface="Segoe UI" pitchFamily="34" charset="-122"/>
                <a:cs typeface="Segoe UI" pitchFamily="34" charset="-120"/>
              </a:rPr>
              <a:t>CT − Arrival</a:t>
            </a:r>
            <a:endParaRPr lang="en-US" sz="1000" dirty="0"/>
          </a:p>
        </p:txBody>
      </p:sp>
      <p:sp>
        <p:nvSpPr>
          <p:cNvPr id="13" name="Shape 10"/>
          <p:cNvSpPr/>
          <p:nvPr/>
        </p:nvSpPr>
        <p:spPr>
          <a:xfrm>
            <a:off x="4608576" y="1051560"/>
            <a:ext cx="1920240" cy="685800"/>
          </a:xfrm>
          <a:prstGeom prst="roundRect">
            <a:avLst>
              <a:gd name="adj" fmla="val 10667"/>
            </a:avLst>
          </a:prstGeom>
          <a:solidFill>
            <a:srgbClr val="151B34"/>
          </a:solidFill>
          <a:ln w="12700">
            <a:solidFill>
              <a:srgbClr val="8B5CF6"/>
            </a:solidFill>
            <a:prstDash val="solid"/>
          </a:ln>
        </p:spPr>
      </p:sp>
      <p:sp>
        <p:nvSpPr>
          <p:cNvPr id="14" name="Text 11"/>
          <p:cNvSpPr txBox="1"/>
          <p:nvPr/>
        </p:nvSpPr>
        <p:spPr>
          <a:xfrm>
            <a:off x="4700016" y="1078992"/>
            <a:ext cx="1737360" cy="228600"/>
          </a:xfrm>
          <a:prstGeom prst="rect">
            <a:avLst/>
          </a:prstGeom>
          <a:noFill/>
          <a:ln/>
        </p:spPr>
        <p:txBody>
          <a:bodyPr wrap="square" lIns="0" tIns="0" rIns="0" bIns="0" rtlCol="0" anchor="t"/>
          <a:lstStyle/>
          <a:p>
            <a:pPr marL="0" indent="0">
              <a:buNone/>
            </a:pPr>
            <a:r>
              <a:rPr lang="en-US" sz="1100" b="1" dirty="0">
                <a:solidFill>
                  <a:srgbClr val="C4B5FD"/>
                </a:solidFill>
                <a:latin typeface="Segoe UI" pitchFamily="34" charset="0"/>
                <a:ea typeface="Segoe UI" pitchFamily="34" charset="-122"/>
                <a:cs typeface="Segoe UI" pitchFamily="34" charset="-120"/>
              </a:rPr>
              <a:t>Waiting</a:t>
            </a:r>
            <a:endParaRPr lang="en-US" sz="1100" dirty="0"/>
          </a:p>
        </p:txBody>
      </p:sp>
      <p:sp>
        <p:nvSpPr>
          <p:cNvPr id="15" name="Text 12"/>
          <p:cNvSpPr txBox="1"/>
          <p:nvPr/>
        </p:nvSpPr>
        <p:spPr>
          <a:xfrm>
            <a:off x="4700016" y="1371600"/>
            <a:ext cx="1737360" cy="274320"/>
          </a:xfrm>
          <a:prstGeom prst="rect">
            <a:avLst/>
          </a:prstGeom>
          <a:noFill/>
          <a:ln/>
        </p:spPr>
        <p:txBody>
          <a:bodyPr wrap="square" lIns="0" tIns="0" rIns="0" bIns="0" rtlCol="0" anchor="t"/>
          <a:lstStyle/>
          <a:p>
            <a:pPr marL="0" indent="0">
              <a:buNone/>
            </a:pPr>
            <a:r>
              <a:rPr lang="en-US" sz="1000" dirty="0">
                <a:solidFill>
                  <a:srgbClr val="E5E7EB"/>
                </a:solidFill>
                <a:latin typeface="Segoe UI" pitchFamily="34" charset="0"/>
                <a:ea typeface="Segoe UI" pitchFamily="34" charset="-122"/>
                <a:cs typeface="Segoe UI" pitchFamily="34" charset="-120"/>
              </a:rPr>
              <a:t>Turnaround − Burst</a:t>
            </a:r>
            <a:endParaRPr lang="en-US" sz="1000" dirty="0"/>
          </a:p>
        </p:txBody>
      </p:sp>
      <p:sp>
        <p:nvSpPr>
          <p:cNvPr id="16" name="Shape 13"/>
          <p:cNvSpPr/>
          <p:nvPr/>
        </p:nvSpPr>
        <p:spPr>
          <a:xfrm>
            <a:off x="6684264" y="1051560"/>
            <a:ext cx="1920240" cy="685800"/>
          </a:xfrm>
          <a:prstGeom prst="roundRect">
            <a:avLst>
              <a:gd name="adj" fmla="val 10667"/>
            </a:avLst>
          </a:prstGeom>
          <a:solidFill>
            <a:srgbClr val="151B34"/>
          </a:solidFill>
          <a:ln w="12700">
            <a:solidFill>
              <a:srgbClr val="3B82F6"/>
            </a:solidFill>
            <a:prstDash val="solid"/>
          </a:ln>
        </p:spPr>
      </p:sp>
      <p:sp>
        <p:nvSpPr>
          <p:cNvPr id="17" name="Text 14"/>
          <p:cNvSpPr txBox="1"/>
          <p:nvPr/>
        </p:nvSpPr>
        <p:spPr>
          <a:xfrm>
            <a:off x="6775704" y="1078992"/>
            <a:ext cx="1737360" cy="228600"/>
          </a:xfrm>
          <a:prstGeom prst="rect">
            <a:avLst/>
          </a:prstGeom>
          <a:noFill/>
          <a:ln/>
        </p:spPr>
        <p:txBody>
          <a:bodyPr wrap="square" lIns="0" tIns="0" rIns="0" bIns="0" rtlCol="0" anchor="t"/>
          <a:lstStyle/>
          <a:p>
            <a:pPr marL="0" indent="0">
              <a:buNone/>
            </a:pPr>
            <a:r>
              <a:rPr lang="en-US" sz="1100" b="1" dirty="0">
                <a:solidFill>
                  <a:srgbClr val="C4B5FD"/>
                </a:solidFill>
                <a:latin typeface="Segoe UI" pitchFamily="34" charset="0"/>
                <a:ea typeface="Segoe UI" pitchFamily="34" charset="-122"/>
                <a:cs typeface="Segoe UI" pitchFamily="34" charset="-120"/>
              </a:rPr>
              <a:t>Response</a:t>
            </a:r>
            <a:endParaRPr lang="en-US" sz="1100" dirty="0"/>
          </a:p>
        </p:txBody>
      </p:sp>
      <p:sp>
        <p:nvSpPr>
          <p:cNvPr id="18" name="Text 15"/>
          <p:cNvSpPr txBox="1"/>
          <p:nvPr/>
        </p:nvSpPr>
        <p:spPr>
          <a:xfrm>
            <a:off x="6775704" y="1371600"/>
            <a:ext cx="1737360" cy="274320"/>
          </a:xfrm>
          <a:prstGeom prst="rect">
            <a:avLst/>
          </a:prstGeom>
          <a:noFill/>
          <a:ln/>
        </p:spPr>
        <p:txBody>
          <a:bodyPr wrap="square" lIns="0" tIns="0" rIns="0" bIns="0" rtlCol="0" anchor="t"/>
          <a:lstStyle/>
          <a:p>
            <a:pPr marL="0" indent="0">
              <a:buNone/>
            </a:pPr>
            <a:r>
              <a:rPr lang="en-US" sz="1000" dirty="0">
                <a:solidFill>
                  <a:srgbClr val="E5E7EB"/>
                </a:solidFill>
                <a:latin typeface="Segoe UI" pitchFamily="34" charset="0"/>
                <a:ea typeface="Segoe UI" pitchFamily="34" charset="-122"/>
                <a:cs typeface="Segoe UI" pitchFamily="34" charset="-120"/>
              </a:rPr>
              <a:t>First Start − Arrival</a:t>
            </a:r>
            <a:endParaRPr lang="en-US" sz="1000" dirty="0"/>
          </a:p>
        </p:txBody>
      </p:sp>
      <p:sp>
        <p:nvSpPr>
          <p:cNvPr id="19" name="Text 16"/>
          <p:cNvSpPr txBox="1"/>
          <p:nvPr/>
        </p:nvSpPr>
        <p:spPr>
          <a:xfrm>
            <a:off x="457200" y="1874520"/>
            <a:ext cx="4754880" cy="228600"/>
          </a:xfrm>
          <a:prstGeom prst="rect">
            <a:avLst/>
          </a:prstGeom>
          <a:noFill/>
          <a:ln/>
        </p:spPr>
        <p:txBody>
          <a:bodyPr wrap="square" lIns="0" tIns="0" rIns="0" bIns="0" rtlCol="0" anchor="t"/>
          <a:lstStyle/>
          <a:p>
            <a:pPr marL="0" indent="0">
              <a:buNone/>
            </a:pPr>
            <a:r>
              <a:rPr lang="en-US" sz="1000" b="1" dirty="0">
                <a:solidFill>
                  <a:srgbClr val="FBBF24"/>
                </a:solidFill>
                <a:latin typeface="Segoe UI" pitchFamily="34" charset="0"/>
                <a:ea typeface="Segoe UI" pitchFamily="34" charset="-122"/>
                <a:cs typeface="Segoe UI" pitchFamily="34" charset="-120"/>
              </a:rPr>
              <a:t>Illustrative example (dynamic, AI = 2, non-preemptive)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4754880" cy="1481328"/>
        </p:xfrm>
        <a:graphic>
          <a:graphicData uri="http://schemas.openxmlformats.org/drawingml/2006/table">
            <a:tbl>
              <a:tblPr/>
              <a:tblGrid>
                <a:gridCol w="5943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46888">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PID</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AT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BT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BP</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CT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TAT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WT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RT</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extLst>
                  <a:ext uri="{0D108BD9-81ED-4DB2-BD59-A6C34878D82A}">
                    <a16:rowId xmlns:a16="http://schemas.microsoft.com/office/drawing/2014/main" val="10000"/>
                  </a:ext>
                </a:extLst>
              </a:tr>
              <a:tr h="246888">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0</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1"/>
                  </a:ext>
                </a:extLst>
              </a:tr>
              <a:tr h="246888">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7</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6</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2"/>
                  </a:ext>
                </a:extLst>
              </a:tr>
              <a:tr h="246888">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5</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3"/>
                  </a:ext>
                </a:extLst>
              </a:tr>
              <a:tr h="246888">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P4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9</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6</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4</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4"/>
                  </a:ext>
                </a:extLst>
              </a:tr>
              <a:tr h="246888">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Avg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4.5</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2.25</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2.25</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5"/>
                  </a:ext>
                </a:extLst>
              </a:tr>
            </a:tbl>
          </a:graphicData>
        </a:graphic>
      </p:graphicFrame>
      <p:sp>
        <p:nvSpPr>
          <p:cNvPr id="21" name="Shape 17"/>
          <p:cNvSpPr/>
          <p:nvPr/>
        </p:nvSpPr>
        <p:spPr>
          <a:xfrm>
            <a:off x="457200" y="3886200"/>
            <a:ext cx="1584960" cy="320040"/>
          </a:xfrm>
          <a:prstGeom prst="rect">
            <a:avLst/>
          </a:prstGeom>
          <a:solidFill>
            <a:srgbClr val="8B5CF6"/>
          </a:solidFill>
          <a:ln w="19050">
            <a:solidFill>
              <a:srgbClr val="0B1020"/>
            </a:solidFill>
            <a:prstDash val="solid"/>
          </a:ln>
        </p:spPr>
      </p:sp>
      <p:sp>
        <p:nvSpPr>
          <p:cNvPr id="22" name="Text 18"/>
          <p:cNvSpPr txBox="1"/>
          <p:nvPr/>
        </p:nvSpPr>
        <p:spPr>
          <a:xfrm>
            <a:off x="457200" y="3886200"/>
            <a:ext cx="158496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P1</a:t>
            </a:r>
            <a:endParaRPr lang="en-US" sz="1100" dirty="0"/>
          </a:p>
        </p:txBody>
      </p:sp>
      <p:sp>
        <p:nvSpPr>
          <p:cNvPr id="23" name="Shape 19"/>
          <p:cNvSpPr/>
          <p:nvPr/>
        </p:nvSpPr>
        <p:spPr>
          <a:xfrm>
            <a:off x="2042160" y="3886200"/>
            <a:ext cx="1056640" cy="320040"/>
          </a:xfrm>
          <a:prstGeom prst="rect">
            <a:avLst/>
          </a:prstGeom>
          <a:solidFill>
            <a:srgbClr val="3B82F6"/>
          </a:solidFill>
          <a:ln w="19050">
            <a:solidFill>
              <a:srgbClr val="0B1020"/>
            </a:solidFill>
            <a:prstDash val="solid"/>
          </a:ln>
        </p:spPr>
      </p:sp>
      <p:sp>
        <p:nvSpPr>
          <p:cNvPr id="24" name="Text 20"/>
          <p:cNvSpPr txBox="1"/>
          <p:nvPr/>
        </p:nvSpPr>
        <p:spPr>
          <a:xfrm>
            <a:off x="2042160" y="3886200"/>
            <a:ext cx="1056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P3</a:t>
            </a:r>
            <a:endParaRPr lang="en-US" sz="1100" dirty="0"/>
          </a:p>
        </p:txBody>
      </p:sp>
      <p:sp>
        <p:nvSpPr>
          <p:cNvPr id="25" name="Shape 21"/>
          <p:cNvSpPr/>
          <p:nvPr/>
        </p:nvSpPr>
        <p:spPr>
          <a:xfrm>
            <a:off x="3098800" y="3886200"/>
            <a:ext cx="1056640" cy="320040"/>
          </a:xfrm>
          <a:prstGeom prst="rect">
            <a:avLst/>
          </a:prstGeom>
          <a:solidFill>
            <a:srgbClr val="06B6D4"/>
          </a:solidFill>
          <a:ln w="19050">
            <a:solidFill>
              <a:srgbClr val="0B1020"/>
            </a:solidFill>
            <a:prstDash val="solid"/>
          </a:ln>
        </p:spPr>
      </p:sp>
      <p:sp>
        <p:nvSpPr>
          <p:cNvPr id="26" name="Text 22"/>
          <p:cNvSpPr txBox="1"/>
          <p:nvPr/>
        </p:nvSpPr>
        <p:spPr>
          <a:xfrm>
            <a:off x="3098800" y="3886200"/>
            <a:ext cx="1056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P2</a:t>
            </a:r>
            <a:endParaRPr lang="en-US" sz="1100" dirty="0"/>
          </a:p>
        </p:txBody>
      </p:sp>
      <p:sp>
        <p:nvSpPr>
          <p:cNvPr id="27" name="Shape 23"/>
          <p:cNvSpPr/>
          <p:nvPr/>
        </p:nvSpPr>
        <p:spPr>
          <a:xfrm>
            <a:off x="4155440" y="3886200"/>
            <a:ext cx="1056640" cy="320040"/>
          </a:xfrm>
          <a:prstGeom prst="rect">
            <a:avLst/>
          </a:prstGeom>
          <a:solidFill>
            <a:srgbClr val="A855F7"/>
          </a:solidFill>
          <a:ln w="19050">
            <a:solidFill>
              <a:srgbClr val="0B1020"/>
            </a:solidFill>
            <a:prstDash val="solid"/>
          </a:ln>
        </p:spPr>
      </p:sp>
      <p:sp>
        <p:nvSpPr>
          <p:cNvPr id="28" name="Text 24"/>
          <p:cNvSpPr txBox="1"/>
          <p:nvPr/>
        </p:nvSpPr>
        <p:spPr>
          <a:xfrm>
            <a:off x="4155440" y="3886200"/>
            <a:ext cx="10566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P4</a:t>
            </a:r>
            <a:endParaRPr lang="en-US" sz="1100" dirty="0"/>
          </a:p>
        </p:txBody>
      </p:sp>
      <p:sp>
        <p:nvSpPr>
          <p:cNvPr id="29" name="Text 25"/>
          <p:cNvSpPr txBox="1"/>
          <p:nvPr/>
        </p:nvSpPr>
        <p:spPr>
          <a:xfrm>
            <a:off x="36576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0</a:t>
            </a:r>
            <a:endParaRPr lang="en-US" sz="800" dirty="0"/>
          </a:p>
        </p:txBody>
      </p:sp>
      <p:sp>
        <p:nvSpPr>
          <p:cNvPr id="30" name="Text 26"/>
          <p:cNvSpPr txBox="1"/>
          <p:nvPr/>
        </p:nvSpPr>
        <p:spPr>
          <a:xfrm>
            <a:off x="89408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1</a:t>
            </a:r>
            <a:endParaRPr lang="en-US" sz="800" dirty="0"/>
          </a:p>
        </p:txBody>
      </p:sp>
      <p:sp>
        <p:nvSpPr>
          <p:cNvPr id="31" name="Text 27"/>
          <p:cNvSpPr txBox="1"/>
          <p:nvPr/>
        </p:nvSpPr>
        <p:spPr>
          <a:xfrm>
            <a:off x="142240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2</a:t>
            </a:r>
            <a:endParaRPr lang="en-US" sz="800" dirty="0"/>
          </a:p>
        </p:txBody>
      </p:sp>
      <p:sp>
        <p:nvSpPr>
          <p:cNvPr id="32" name="Text 28"/>
          <p:cNvSpPr txBox="1"/>
          <p:nvPr/>
        </p:nvSpPr>
        <p:spPr>
          <a:xfrm>
            <a:off x="195072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3</a:t>
            </a:r>
            <a:endParaRPr lang="en-US" sz="800" dirty="0"/>
          </a:p>
        </p:txBody>
      </p:sp>
      <p:sp>
        <p:nvSpPr>
          <p:cNvPr id="33" name="Text 29"/>
          <p:cNvSpPr txBox="1"/>
          <p:nvPr/>
        </p:nvSpPr>
        <p:spPr>
          <a:xfrm>
            <a:off x="247904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4</a:t>
            </a:r>
            <a:endParaRPr lang="en-US" sz="800" dirty="0"/>
          </a:p>
        </p:txBody>
      </p:sp>
      <p:sp>
        <p:nvSpPr>
          <p:cNvPr id="34" name="Text 30"/>
          <p:cNvSpPr txBox="1"/>
          <p:nvPr/>
        </p:nvSpPr>
        <p:spPr>
          <a:xfrm>
            <a:off x="300736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5</a:t>
            </a:r>
            <a:endParaRPr lang="en-US" sz="800" dirty="0"/>
          </a:p>
        </p:txBody>
      </p:sp>
      <p:sp>
        <p:nvSpPr>
          <p:cNvPr id="35" name="Text 31"/>
          <p:cNvSpPr txBox="1"/>
          <p:nvPr/>
        </p:nvSpPr>
        <p:spPr>
          <a:xfrm>
            <a:off x="353568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6</a:t>
            </a:r>
            <a:endParaRPr lang="en-US" sz="800" dirty="0"/>
          </a:p>
        </p:txBody>
      </p:sp>
      <p:sp>
        <p:nvSpPr>
          <p:cNvPr id="36" name="Text 32"/>
          <p:cNvSpPr txBox="1"/>
          <p:nvPr/>
        </p:nvSpPr>
        <p:spPr>
          <a:xfrm>
            <a:off x="406400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7</a:t>
            </a:r>
            <a:endParaRPr lang="en-US" sz="800" dirty="0"/>
          </a:p>
        </p:txBody>
      </p:sp>
      <p:sp>
        <p:nvSpPr>
          <p:cNvPr id="37" name="Text 33"/>
          <p:cNvSpPr txBox="1"/>
          <p:nvPr/>
        </p:nvSpPr>
        <p:spPr>
          <a:xfrm>
            <a:off x="459232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8</a:t>
            </a:r>
            <a:endParaRPr lang="en-US" sz="800" dirty="0"/>
          </a:p>
        </p:txBody>
      </p:sp>
      <p:sp>
        <p:nvSpPr>
          <p:cNvPr id="38" name="Text 34"/>
          <p:cNvSpPr txBox="1"/>
          <p:nvPr/>
        </p:nvSpPr>
        <p:spPr>
          <a:xfrm>
            <a:off x="5120640" y="4233672"/>
            <a:ext cx="182880" cy="164592"/>
          </a:xfrm>
          <a:prstGeom prst="rect">
            <a:avLst/>
          </a:prstGeom>
          <a:noFill/>
          <a:ln/>
        </p:spPr>
        <p:txBody>
          <a:bodyPr wrap="square" lIns="0" tIns="0" rIns="0" bIns="0" rtlCol="0" anchor="t"/>
          <a:lstStyle/>
          <a:p>
            <a:pPr marL="0" indent="0" algn="ctr">
              <a:buNone/>
            </a:pPr>
            <a:r>
              <a:rPr lang="en-US" sz="800" dirty="0">
                <a:solidFill>
                  <a:srgbClr val="94A3B8"/>
                </a:solidFill>
                <a:latin typeface="Segoe UI" pitchFamily="34" charset="0"/>
                <a:ea typeface="Segoe UI" pitchFamily="34" charset="-122"/>
                <a:cs typeface="Segoe UI" pitchFamily="34" charset="-120"/>
              </a:rPr>
              <a:t>9</a:t>
            </a:r>
            <a:endParaRPr lang="en-US" sz="800" dirty="0"/>
          </a:p>
        </p:txBody>
      </p:sp>
      <p:sp>
        <p:nvSpPr>
          <p:cNvPr id="39" name="Text 35"/>
          <p:cNvSpPr txBox="1"/>
          <p:nvPr/>
        </p:nvSpPr>
        <p:spPr>
          <a:xfrm>
            <a:off x="5440680" y="1874520"/>
            <a:ext cx="3200400" cy="228600"/>
          </a:xfrm>
          <a:prstGeom prst="rect">
            <a:avLst/>
          </a:prstGeom>
          <a:noFill/>
          <a:ln/>
        </p:spPr>
        <p:txBody>
          <a:bodyPr wrap="square" lIns="0" tIns="0" rIns="0" bIns="0" rtlCol="0" anchor="t"/>
          <a:lstStyle/>
          <a:p>
            <a:pPr marL="0" indent="0">
              <a:buNone/>
            </a:pPr>
            <a:r>
              <a:rPr lang="en-US" sz="1000" b="1" dirty="0">
                <a:solidFill>
                  <a:srgbClr val="C4B5FD"/>
                </a:solidFill>
                <a:latin typeface="Segoe UI" pitchFamily="34" charset="0"/>
                <a:ea typeface="Segoe UI" pitchFamily="34" charset="-122"/>
                <a:cs typeface="Segoe UI" pitchFamily="34" charset="-120"/>
              </a:rPr>
              <a:t>Dynamic vs fixed-priority baseline</a:t>
            </a:r>
            <a:endParaRPr lang="en-US" sz="1000" dirty="0"/>
          </a:p>
        </p:txBody>
      </p:sp>
      <p:graphicFrame>
        <p:nvGraphicFramePr>
          <p:cNvPr id="20" name="Table 1"/>
          <p:cNvGraphicFramePr>
            <a:graphicFrameLocks noGrp="1"/>
          </p:cNvGraphicFramePr>
          <p:nvPr>
            <p:extLst>
              <p:ext uri="{D42A27DB-BD31-4B8C-83A1-F6EECF244321}">
                <p14:modId xmlns:p14="http://schemas.microsoft.com/office/powerpoint/2010/main" val="1579011935"/>
              </p:ext>
            </p:extLst>
          </p:nvPr>
        </p:nvGraphicFramePr>
        <p:xfrm>
          <a:off x="5440680" y="2148840"/>
          <a:ext cx="3246120" cy="1371600"/>
        </p:xfrm>
        <a:graphic>
          <a:graphicData uri="http://schemas.openxmlformats.org/drawingml/2006/table">
            <a:tbl>
              <a:tblPr/>
              <a:tblGrid>
                <a:gridCol w="12344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74320">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Metric</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Dynamic</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900" b="1" dirty="0">
                          <a:solidFill>
                            <a:srgbClr val="FFFFFF"/>
                          </a:solidFill>
                          <a:latin typeface="Segoe UI" pitchFamily="34" charset="0"/>
                          <a:ea typeface="Segoe UI" pitchFamily="34" charset="-122"/>
                          <a:cs typeface="Segoe UI" pitchFamily="34" charset="-120"/>
                        </a:rPr>
                        <a:t>Fixed baseline</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Avg waiting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Avg turnaround</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Avg response</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E5E7EB"/>
                          </a:solidFill>
                          <a:latin typeface="Segoe UI" pitchFamily="34" charset="0"/>
                          <a:ea typeface="Segoe UI" pitchFamily="34" charset="-122"/>
                          <a:cs typeface="Segoe UI" pitchFamily="34" charset="-120"/>
                        </a:rPr>
                        <a:t>Max waiting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900" dirty="0">
                          <a:solidFill>
                            <a:srgbClr val="FBBF24"/>
                          </a:solidFill>
                          <a:latin typeface="Segoe UI" pitchFamily="34" charset="0"/>
                          <a:ea typeface="Segoe UI" pitchFamily="34" charset="-122"/>
                          <a:cs typeface="Segoe UI" pitchFamily="34" charset="-120"/>
                        </a:rPr>
                        <a:t>Pending</a:t>
                      </a:r>
                      <a:endParaRPr lang="en-US" sz="9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4"/>
                  </a:ext>
                </a:extLst>
              </a:tr>
            </a:tbl>
          </a:graphicData>
        </a:graphic>
      </p:graphicFrame>
      <p:sp>
        <p:nvSpPr>
          <p:cNvPr id="41" name="Text 36"/>
          <p:cNvSpPr txBox="1"/>
          <p:nvPr/>
        </p:nvSpPr>
        <p:spPr>
          <a:xfrm>
            <a:off x="5440680" y="3611880"/>
            <a:ext cx="3200400" cy="548640"/>
          </a:xfrm>
          <a:prstGeom prst="rect">
            <a:avLst/>
          </a:prstGeom>
          <a:noFill/>
          <a:ln/>
        </p:spPr>
        <p:txBody>
          <a:bodyPr wrap="square" lIns="0" tIns="0" rIns="0" bIns="0" rtlCol="0" anchor="t"/>
          <a:lstStyle/>
          <a:p>
            <a:pPr marL="0" indent="0">
              <a:buNone/>
            </a:pPr>
            <a:r>
              <a:rPr lang="en-US" sz="1000" dirty="0">
                <a:solidFill>
                  <a:srgbClr val="94A3B8"/>
                </a:solidFill>
                <a:latin typeface="Segoe UI" pitchFamily="34" charset="0"/>
                <a:ea typeface="Segoe UI" pitchFamily="34" charset="-122"/>
                <a:cs typeface="Segoe UI" pitchFamily="34" charset="-120"/>
              </a:rPr>
              <a:t>Baseline must be implemented &amp; tested first. Results depend on workload and policy.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Impact &amp; Benefits</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What the tool offers — no real-OS performance claims</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10</a:t>
            </a:r>
            <a:endParaRPr lang="en-US" sz="800" dirty="0"/>
          </a:p>
        </p:txBody>
      </p:sp>
      <p:sp>
        <p:nvSpPr>
          <p:cNvPr id="7" name="Shape 4"/>
          <p:cNvSpPr/>
          <p:nvPr/>
        </p:nvSpPr>
        <p:spPr>
          <a:xfrm>
            <a:off x="457200" y="1097280"/>
            <a:ext cx="2606040" cy="777240"/>
          </a:xfrm>
          <a:prstGeom prst="roundRect">
            <a:avLst>
              <a:gd name="adj" fmla="val 9412"/>
            </a:avLst>
          </a:prstGeom>
          <a:solidFill>
            <a:srgbClr val="151B34"/>
          </a:solidFill>
          <a:ln w="12700">
            <a:solidFill>
              <a:srgbClr val="8B5CF6"/>
            </a:solidFill>
            <a:prstDash val="solid"/>
          </a:ln>
        </p:spPr>
      </p:sp>
      <p:sp>
        <p:nvSpPr>
          <p:cNvPr id="8" name="Text 5"/>
          <p:cNvSpPr txBox="1"/>
          <p:nvPr/>
        </p:nvSpPr>
        <p:spPr>
          <a:xfrm>
            <a:off x="594360" y="1097280"/>
            <a:ext cx="2331720" cy="777240"/>
          </a:xfrm>
          <a:prstGeom prst="rect">
            <a:avLst/>
          </a:prstGeom>
          <a:noFill/>
          <a:ln/>
        </p:spPr>
        <p:txBody>
          <a:bodyPr wrap="square" lIns="0" tIns="0" rIns="0" bIns="0" rtlCol="0" anchor="ctr"/>
          <a:lstStyle/>
          <a:p>
            <a:pPr marL="0" indent="0">
              <a:buNone/>
            </a:pPr>
            <a:r>
              <a:rPr lang="en-US" sz="1300" b="1" dirty="0">
                <a:solidFill>
                  <a:srgbClr val="E5E7EB"/>
                </a:solidFill>
                <a:latin typeface="Segoe UI" pitchFamily="34" charset="0"/>
                <a:ea typeface="Segoe UI" pitchFamily="34" charset="-122"/>
                <a:cs typeface="Segoe UI" pitchFamily="34" charset="-120"/>
              </a:rPr>
              <a:t>Fairer CPU access</a:t>
            </a:r>
            <a:endParaRPr lang="en-US" sz="1300" dirty="0"/>
          </a:p>
        </p:txBody>
      </p:sp>
      <p:sp>
        <p:nvSpPr>
          <p:cNvPr id="9" name="Shape 6"/>
          <p:cNvSpPr/>
          <p:nvPr/>
        </p:nvSpPr>
        <p:spPr>
          <a:xfrm>
            <a:off x="3246120" y="1097280"/>
            <a:ext cx="2606040" cy="777240"/>
          </a:xfrm>
          <a:prstGeom prst="roundRect">
            <a:avLst>
              <a:gd name="adj" fmla="val 9412"/>
            </a:avLst>
          </a:prstGeom>
          <a:solidFill>
            <a:srgbClr val="151B34"/>
          </a:solidFill>
          <a:ln w="12700">
            <a:solidFill>
              <a:srgbClr val="3B82F6"/>
            </a:solidFill>
            <a:prstDash val="solid"/>
          </a:ln>
        </p:spPr>
      </p:sp>
      <p:sp>
        <p:nvSpPr>
          <p:cNvPr id="10" name="Text 7"/>
          <p:cNvSpPr txBox="1"/>
          <p:nvPr/>
        </p:nvSpPr>
        <p:spPr>
          <a:xfrm>
            <a:off x="3383280" y="1097280"/>
            <a:ext cx="2331720" cy="777240"/>
          </a:xfrm>
          <a:prstGeom prst="rect">
            <a:avLst/>
          </a:prstGeom>
          <a:noFill/>
          <a:ln/>
        </p:spPr>
        <p:txBody>
          <a:bodyPr wrap="square" lIns="0" tIns="0" rIns="0" bIns="0" rtlCol="0" anchor="ctr"/>
          <a:lstStyle/>
          <a:p>
            <a:pPr marL="0" indent="0">
              <a:buNone/>
            </a:pPr>
            <a:r>
              <a:rPr lang="en-US" sz="1300" b="1" dirty="0">
                <a:solidFill>
                  <a:srgbClr val="E5E7EB"/>
                </a:solidFill>
                <a:latin typeface="Segoe UI" pitchFamily="34" charset="0"/>
                <a:ea typeface="Segoe UI" pitchFamily="34" charset="-122"/>
                <a:cs typeface="Segoe UI" pitchFamily="34" charset="-120"/>
              </a:rPr>
              <a:t>Visible scheduling behavior</a:t>
            </a:r>
            <a:endParaRPr lang="en-US" sz="1300" dirty="0"/>
          </a:p>
        </p:txBody>
      </p:sp>
      <p:sp>
        <p:nvSpPr>
          <p:cNvPr id="11" name="Shape 8"/>
          <p:cNvSpPr/>
          <p:nvPr/>
        </p:nvSpPr>
        <p:spPr>
          <a:xfrm>
            <a:off x="6035040" y="1097280"/>
            <a:ext cx="2606040" cy="777240"/>
          </a:xfrm>
          <a:prstGeom prst="roundRect">
            <a:avLst>
              <a:gd name="adj" fmla="val 9412"/>
            </a:avLst>
          </a:prstGeom>
          <a:solidFill>
            <a:srgbClr val="151B34"/>
          </a:solidFill>
          <a:ln w="12700">
            <a:solidFill>
              <a:srgbClr val="34D399"/>
            </a:solidFill>
            <a:prstDash val="solid"/>
          </a:ln>
        </p:spPr>
      </p:sp>
      <p:sp>
        <p:nvSpPr>
          <p:cNvPr id="12" name="Text 9"/>
          <p:cNvSpPr txBox="1"/>
          <p:nvPr/>
        </p:nvSpPr>
        <p:spPr>
          <a:xfrm>
            <a:off x="6172200" y="1097280"/>
            <a:ext cx="2331720" cy="777240"/>
          </a:xfrm>
          <a:prstGeom prst="rect">
            <a:avLst/>
          </a:prstGeom>
          <a:noFill/>
          <a:ln/>
        </p:spPr>
        <p:txBody>
          <a:bodyPr wrap="square" lIns="0" tIns="0" rIns="0" bIns="0" rtlCol="0" anchor="ctr"/>
          <a:lstStyle/>
          <a:p>
            <a:pPr marL="0" indent="0">
              <a:buNone/>
            </a:pPr>
            <a:r>
              <a:rPr lang="en-US" sz="1300" b="1" dirty="0">
                <a:solidFill>
                  <a:srgbClr val="E5E7EB"/>
                </a:solidFill>
                <a:latin typeface="Segoe UI" pitchFamily="34" charset="0"/>
                <a:ea typeface="Segoe UI" pitchFamily="34" charset="-122"/>
                <a:cs typeface="Segoe UI" pitchFamily="34" charset="-120"/>
              </a:rPr>
              <a:t>Reduced starvation risk</a:t>
            </a:r>
            <a:endParaRPr lang="en-US" sz="1300" dirty="0"/>
          </a:p>
        </p:txBody>
      </p:sp>
      <p:sp>
        <p:nvSpPr>
          <p:cNvPr id="13" name="Shape 10"/>
          <p:cNvSpPr/>
          <p:nvPr/>
        </p:nvSpPr>
        <p:spPr>
          <a:xfrm>
            <a:off x="457200" y="2011680"/>
            <a:ext cx="2606040" cy="777240"/>
          </a:xfrm>
          <a:prstGeom prst="roundRect">
            <a:avLst>
              <a:gd name="adj" fmla="val 9412"/>
            </a:avLst>
          </a:prstGeom>
          <a:solidFill>
            <a:srgbClr val="151B34"/>
          </a:solidFill>
          <a:ln w="12700">
            <a:solidFill>
              <a:srgbClr val="06B6D4"/>
            </a:solidFill>
            <a:prstDash val="solid"/>
          </a:ln>
        </p:spPr>
      </p:sp>
      <p:sp>
        <p:nvSpPr>
          <p:cNvPr id="14" name="Text 11"/>
          <p:cNvSpPr txBox="1"/>
          <p:nvPr/>
        </p:nvSpPr>
        <p:spPr>
          <a:xfrm>
            <a:off x="594360" y="2011680"/>
            <a:ext cx="2331720" cy="777240"/>
          </a:xfrm>
          <a:prstGeom prst="rect">
            <a:avLst/>
          </a:prstGeom>
          <a:noFill/>
          <a:ln/>
        </p:spPr>
        <p:txBody>
          <a:bodyPr wrap="square" lIns="0" tIns="0" rIns="0" bIns="0" rtlCol="0" anchor="ctr"/>
          <a:lstStyle/>
          <a:p>
            <a:pPr marL="0" indent="0">
              <a:buNone/>
            </a:pPr>
            <a:r>
              <a:rPr lang="en-US" sz="1300" b="1" dirty="0">
                <a:solidFill>
                  <a:srgbClr val="E5E7EB"/>
                </a:solidFill>
                <a:latin typeface="Segoe UI" pitchFamily="34" charset="0"/>
                <a:ea typeface="Segoe UI" pitchFamily="34" charset="-122"/>
                <a:cs typeface="Segoe UI" pitchFamily="34" charset="-120"/>
              </a:rPr>
              <a:t>Educational &amp; experimental tool</a:t>
            </a:r>
            <a:endParaRPr lang="en-US" sz="1300" dirty="0"/>
          </a:p>
        </p:txBody>
      </p:sp>
      <p:sp>
        <p:nvSpPr>
          <p:cNvPr id="15" name="Shape 12"/>
          <p:cNvSpPr/>
          <p:nvPr/>
        </p:nvSpPr>
        <p:spPr>
          <a:xfrm>
            <a:off x="3246120" y="2011680"/>
            <a:ext cx="2606040" cy="777240"/>
          </a:xfrm>
          <a:prstGeom prst="roundRect">
            <a:avLst>
              <a:gd name="adj" fmla="val 9412"/>
            </a:avLst>
          </a:prstGeom>
          <a:solidFill>
            <a:srgbClr val="151B34"/>
          </a:solidFill>
          <a:ln w="12700">
            <a:solidFill>
              <a:srgbClr val="A855F7"/>
            </a:solidFill>
            <a:prstDash val="solid"/>
          </a:ln>
        </p:spPr>
      </p:sp>
      <p:sp>
        <p:nvSpPr>
          <p:cNvPr id="16" name="Text 13"/>
          <p:cNvSpPr txBox="1"/>
          <p:nvPr/>
        </p:nvSpPr>
        <p:spPr>
          <a:xfrm>
            <a:off x="3383280" y="2011680"/>
            <a:ext cx="2331720" cy="777240"/>
          </a:xfrm>
          <a:prstGeom prst="rect">
            <a:avLst/>
          </a:prstGeom>
          <a:noFill/>
          <a:ln/>
        </p:spPr>
        <p:txBody>
          <a:bodyPr wrap="square" lIns="0" tIns="0" rIns="0" bIns="0" rtlCol="0" anchor="ctr"/>
          <a:lstStyle/>
          <a:p>
            <a:pPr marL="0" indent="0">
              <a:buNone/>
            </a:pPr>
            <a:r>
              <a:rPr lang="en-US" sz="1300" b="1" dirty="0">
                <a:solidFill>
                  <a:srgbClr val="E5E7EB"/>
                </a:solidFill>
                <a:latin typeface="Segoe UI" pitchFamily="34" charset="0"/>
                <a:ea typeface="Segoe UI" pitchFamily="34" charset="-122"/>
                <a:cs typeface="Segoe UI" pitchFamily="34" charset="-120"/>
              </a:rPr>
              <a:t>Future research potential</a:t>
            </a:r>
            <a:endParaRPr lang="en-US" sz="1300" dirty="0"/>
          </a:p>
        </p:txBody>
      </p:sp>
      <p:sp>
        <p:nvSpPr>
          <p:cNvPr id="17" name="Shape 14"/>
          <p:cNvSpPr/>
          <p:nvPr/>
        </p:nvSpPr>
        <p:spPr>
          <a:xfrm>
            <a:off x="457200" y="3017520"/>
            <a:ext cx="8229600" cy="1463040"/>
          </a:xfrm>
          <a:prstGeom prst="roundRect">
            <a:avLst>
              <a:gd name="adj" fmla="val 5000"/>
            </a:avLst>
          </a:prstGeom>
          <a:solidFill>
            <a:srgbClr val="151B34"/>
          </a:solidFill>
          <a:ln w="12700">
            <a:solidFill>
              <a:srgbClr val="FBBF24"/>
            </a:solidFill>
            <a:prstDash val="solid"/>
          </a:ln>
        </p:spPr>
      </p:sp>
      <p:sp>
        <p:nvSpPr>
          <p:cNvPr id="18" name="Text 15"/>
          <p:cNvSpPr txBox="1"/>
          <p:nvPr/>
        </p:nvSpPr>
        <p:spPr>
          <a:xfrm>
            <a:off x="640080" y="3090672"/>
            <a:ext cx="7315200" cy="274320"/>
          </a:xfrm>
          <a:prstGeom prst="rect">
            <a:avLst/>
          </a:prstGeom>
          <a:noFill/>
          <a:ln/>
        </p:spPr>
        <p:txBody>
          <a:bodyPr wrap="square" lIns="0" tIns="0" rIns="0" bIns="0" rtlCol="0" anchor="t"/>
          <a:lstStyle/>
          <a:p>
            <a:pPr marL="0" indent="0">
              <a:buNone/>
            </a:pPr>
            <a:r>
              <a:rPr lang="en-US" sz="1300" b="1" dirty="0">
                <a:solidFill>
                  <a:srgbClr val="FBBF24"/>
                </a:solidFill>
                <a:latin typeface="Segoe UI" pitchFamily="34" charset="0"/>
                <a:ea typeface="Segoe UI" pitchFamily="34" charset="-122"/>
                <a:cs typeface="Segoe UI" pitchFamily="34" charset="-120"/>
              </a:rPr>
              <a:t>Originality &amp; responsible implementation</a:t>
            </a:r>
            <a:endParaRPr lang="en-US" sz="1300" dirty="0"/>
          </a:p>
        </p:txBody>
      </p:sp>
      <p:sp>
        <p:nvSpPr>
          <p:cNvPr id="19" name="Text 16"/>
          <p:cNvSpPr txBox="1"/>
          <p:nvPr/>
        </p:nvSpPr>
        <p:spPr>
          <a:xfrm>
            <a:off x="640080" y="3429000"/>
            <a:ext cx="7863840" cy="10058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E5E7EB"/>
                </a:solidFill>
                <a:latin typeface="Segoe UI" pitchFamily="34" charset="0"/>
                <a:ea typeface="Segoe UI" pitchFamily="34" charset="-122"/>
                <a:cs typeface="Segoe UI" pitchFamily="34" charset="-120"/>
              </a:rPr>
              <a:t>Priority aging is a known idea; our work is our own implementation, dashboard and test suite</a:t>
            </a:r>
            <a:endParaRPr lang="en-US" sz="1100" dirty="0"/>
          </a:p>
          <a:p>
            <a:pPr marL="342900" indent="-342900">
              <a:spcAft>
                <a:spcPts val="400"/>
              </a:spcAft>
              <a:buSzPct val="100000"/>
              <a:buChar char="•"/>
            </a:pPr>
            <a:r>
              <a:rPr lang="en-US" sz="1100" dirty="0">
                <a:solidFill>
                  <a:srgbClr val="E5E7EB"/>
                </a:solidFill>
                <a:latin typeface="Segoe UI" pitchFamily="34" charset="0"/>
                <a:ea typeface="Segoe UI" pitchFamily="34" charset="-122"/>
                <a:cs typeface="Segoe UI" pitchFamily="34" charset="-120"/>
              </a:rPr>
              <a:t>Uses simulated processes only — never modifies real Windows processes</a:t>
            </a:r>
            <a:endParaRPr lang="en-US" sz="1100" dirty="0"/>
          </a:p>
          <a:p>
            <a:pPr marL="342900" indent="-342900">
              <a:spcAft>
                <a:spcPts val="400"/>
              </a:spcAft>
              <a:buSzPct val="100000"/>
              <a:buChar char="•"/>
            </a:pPr>
            <a:r>
              <a:rPr lang="en-US" sz="1100" dirty="0">
                <a:solidFill>
                  <a:srgbClr val="E5E7EB"/>
                </a:solidFill>
                <a:latin typeface="Segoe UI" pitchFamily="34" charset="0"/>
                <a:ea typeface="Segoe UI" pitchFamily="34" charset="-122"/>
                <a:cs typeface="Segoe UI" pitchFamily="34" charset="-120"/>
              </a:rPr>
              <a:t>Formula is this project's chosen policy, not a universal rule; no guaranteed real-OS gains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Team Contributions</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1417320" y="731520"/>
            <a:ext cx="7315200" cy="182880"/>
          </a:xfrm>
          <a:prstGeom prst="rect">
            <a:avLst/>
          </a:prstGeom>
          <a:noFill/>
          <a:ln/>
        </p:spPr>
        <p:txBody>
          <a:bodyPr wrap="square" lIns="0" tIns="0" rIns="0" bIns="0" rtlCol="0" anchor="ctr"/>
          <a:lstStyle/>
          <a:p>
            <a:pPr marL="0" indent="0">
              <a:buNone/>
            </a:pPr>
            <a:r>
              <a:rPr lang="en-US" sz="1000" dirty="0">
                <a:solidFill>
                  <a:srgbClr val="94A3B8"/>
                </a:solidFill>
              </a:rPr>
              <a:t>Editable — change names and roles to match the real team</a:t>
            </a:r>
            <a:endParaRPr lang="en-US" sz="1000" dirty="0"/>
          </a:p>
        </p:txBody>
      </p:sp>
      <p:sp>
        <p:nvSpPr>
          <p:cNvPr id="5" name="Text 3"/>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11</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233925407"/>
              </p:ext>
            </p:extLst>
          </p:nvPr>
        </p:nvGraphicFramePr>
        <p:xfrm>
          <a:off x="457200" y="1188720"/>
          <a:ext cx="8229600" cy="2423160"/>
        </p:xfrm>
        <a:graphic>
          <a:graphicData uri="http://schemas.openxmlformats.org/drawingml/2006/table">
            <a:tbl>
              <a:tblPr/>
              <a:tblGrid>
                <a:gridCol w="1280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94360">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Member</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Name</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tc>
                  <a:txBody>
                    <a:bodyPr/>
                    <a:lstStyle/>
                    <a:p>
                      <a:pPr marL="0" indent="0">
                        <a:buNone/>
                      </a:pPr>
                      <a:r>
                        <a:rPr lang="en-US" sz="1200" b="1" dirty="0">
                          <a:solidFill>
                            <a:srgbClr val="FFFFFF"/>
                          </a:solidFill>
                          <a:latin typeface="Segoe UI" pitchFamily="34" charset="0"/>
                          <a:ea typeface="Segoe UI" pitchFamily="34" charset="-122"/>
                          <a:cs typeface="Segoe UI" pitchFamily="34" charset="-120"/>
                        </a:rPr>
                        <a:t>Responsibility</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5B3BD6"/>
                    </a:solidFill>
                  </a:tcPr>
                </a:tc>
                <a:extLst>
                  <a:ext uri="{0D108BD9-81ED-4DB2-BD59-A6C34878D82A}">
                    <a16:rowId xmlns:a16="http://schemas.microsoft.com/office/drawing/2014/main" val="10000"/>
                  </a:ext>
                </a:extLst>
              </a:tr>
              <a:tr h="594360">
                <a:tc>
                  <a:txBody>
                    <a:bodyPr/>
                    <a:lstStyle/>
                    <a:p>
                      <a:pPr marL="0" indent="0">
                        <a:buNone/>
                      </a:pPr>
                      <a:r>
                        <a:rPr lang="en-US" sz="1200" dirty="0">
                          <a:solidFill>
                            <a:srgbClr val="E5E7EB"/>
                          </a:solidFill>
                          <a:latin typeface="Segoe UI" pitchFamily="34" charset="0"/>
                          <a:ea typeface="Segoe UI" pitchFamily="34" charset="-122"/>
                          <a:cs typeface="Segoe UI" pitchFamily="34" charset="-120"/>
                        </a:rPr>
                        <a:t>Member 1</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200" dirty="0">
                          <a:solidFill>
                            <a:schemeClr val="bg1"/>
                          </a:solidFill>
                          <a:latin typeface="Segoe UI" charset="0"/>
                          <a:ea typeface="Segoe UI" charset="0"/>
                          <a:cs typeface="Segoe UI" charset="0"/>
                        </a:rPr>
                        <a:t>D Ananya </a:t>
                      </a: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200" dirty="0">
                          <a:solidFill>
                            <a:srgbClr val="E5E7EB"/>
                          </a:solidFill>
                          <a:latin typeface="Segoe UI" pitchFamily="34" charset="0"/>
                          <a:ea typeface="Segoe UI" pitchFamily="34" charset="-122"/>
                          <a:cs typeface="Segoe UI" pitchFamily="34" charset="-120"/>
                        </a:rPr>
                        <a:t>Scheduling algorithm and priority-aging logic</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1"/>
                  </a:ext>
                </a:extLst>
              </a:tr>
              <a:tr h="594360">
                <a:tc>
                  <a:txBody>
                    <a:bodyPr/>
                    <a:lstStyle/>
                    <a:p>
                      <a:pPr marL="0" indent="0">
                        <a:buNone/>
                      </a:pPr>
                      <a:r>
                        <a:rPr lang="en-US" sz="1200" dirty="0">
                          <a:solidFill>
                            <a:srgbClr val="E5E7EB"/>
                          </a:solidFill>
                          <a:latin typeface="Segoe UI" pitchFamily="34" charset="0"/>
                          <a:ea typeface="Segoe UI" pitchFamily="34" charset="-122"/>
                          <a:cs typeface="Segoe UI" pitchFamily="34" charset="-120"/>
                        </a:rPr>
                        <a:t>Member 2</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200" dirty="0">
                          <a:solidFill>
                            <a:srgbClr val="E5E7EB"/>
                          </a:solidFill>
                          <a:latin typeface="Segoe UI" pitchFamily="34" charset="0"/>
                          <a:ea typeface="Segoe UI" charset="0"/>
                          <a:cs typeface="Segoe UI" pitchFamily="34" charset="-120"/>
                        </a:rPr>
                        <a:t>P Shashanth</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tc>
                  <a:txBody>
                    <a:bodyPr/>
                    <a:lstStyle/>
                    <a:p>
                      <a:pPr marL="0" indent="0">
                        <a:buNone/>
                      </a:pPr>
                      <a:r>
                        <a:rPr lang="en-US" sz="1200" dirty="0">
                          <a:solidFill>
                            <a:srgbClr val="E5E7EB"/>
                          </a:solidFill>
                          <a:latin typeface="Segoe UI" pitchFamily="34" charset="0"/>
                          <a:ea typeface="Segoe UI" pitchFamily="34" charset="-122"/>
                          <a:cs typeface="Segoe UI" pitchFamily="34" charset="-120"/>
                        </a:rPr>
                        <a:t>React frontend and dashboard</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51B34"/>
                    </a:solidFill>
                  </a:tcPr>
                </a:tc>
                <a:extLst>
                  <a:ext uri="{0D108BD9-81ED-4DB2-BD59-A6C34878D82A}">
                    <a16:rowId xmlns:a16="http://schemas.microsoft.com/office/drawing/2014/main" val="10002"/>
                  </a:ext>
                </a:extLst>
              </a:tr>
              <a:tr h="594360">
                <a:tc>
                  <a:txBody>
                    <a:bodyPr/>
                    <a:lstStyle/>
                    <a:p>
                      <a:pPr marL="0" indent="0">
                        <a:buNone/>
                      </a:pPr>
                      <a:r>
                        <a:rPr lang="en-US" sz="1200" dirty="0">
                          <a:solidFill>
                            <a:srgbClr val="E5E7EB"/>
                          </a:solidFill>
                          <a:latin typeface="Segoe UI" pitchFamily="34" charset="0"/>
                          <a:ea typeface="Segoe UI" pitchFamily="34" charset="-122"/>
                          <a:cs typeface="Segoe UI" pitchFamily="34" charset="-120"/>
                        </a:rPr>
                        <a:t>Member 3</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indent="0">
                        <a:buNone/>
                      </a:pPr>
                      <a:r>
                        <a:rPr lang="en-US" sz="1200" dirty="0">
                          <a:solidFill>
                            <a:srgbClr val="E5E7EB"/>
                          </a:solidFill>
                          <a:latin typeface="Segoe UI" pitchFamily="34" charset="0"/>
                          <a:ea typeface="Segoe UI" charset="0"/>
                          <a:cs typeface="Segoe UI" pitchFamily="34" charset="-120"/>
                        </a:rPr>
                        <a:t>M Vijaya Lakshmi</a:t>
                      </a: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E5E7EB"/>
                          </a:solidFill>
                          <a:latin typeface="Segoe UI" pitchFamily="34" charset="0"/>
                          <a:ea typeface="Segoe UI" pitchFamily="34" charset="-122"/>
                          <a:cs typeface="Segoe UI" pitchFamily="34" charset="-120"/>
                        </a:rPr>
                        <a:t>FastAPI backend, integration and testing</a:t>
                      </a:r>
                      <a:br>
                        <a:rPr lang="en-US" sz="1200" dirty="0">
                          <a:solidFill>
                            <a:srgbClr val="E5E7EB"/>
                          </a:solidFill>
                          <a:latin typeface="Segoe UI" pitchFamily="34" charset="0"/>
                          <a:ea typeface="Segoe UI" pitchFamily="34" charset="-122"/>
                          <a:cs typeface="Segoe UI" pitchFamily="34" charset="-120"/>
                        </a:rPr>
                      </a:br>
                      <a:r>
                        <a:rPr lang="en-US" sz="1200" dirty="0">
                          <a:solidFill>
                            <a:srgbClr val="E5E7EB"/>
                          </a:solidFill>
                          <a:latin typeface="Segoe UI" pitchFamily="34" charset="0"/>
                          <a:ea typeface="Segoe UI" pitchFamily="34" charset="-122"/>
                          <a:cs typeface="Segoe UI" pitchFamily="34" charset="-120"/>
                        </a:rPr>
                        <a:t>Gantt-chart visualization, documentation and presentation</a:t>
                      </a:r>
                      <a:endParaRPr lang="en-US" sz="1200" dirty="0">
                        <a:latin typeface="Segoe UI" charset="0"/>
                        <a:ea typeface="Segoe UI" charset="0"/>
                        <a:cs typeface="Segoe UI" charset="0"/>
                      </a:endParaRPr>
                    </a:p>
                    <a:p>
                      <a:pPr marL="0" indent="0">
                        <a:buNone/>
                      </a:pPr>
                      <a:endParaRPr lang="en-US" sz="1200" dirty="0">
                        <a:latin typeface="Segoe UI" charset="0"/>
                        <a:ea typeface="Segoe UI" charset="0"/>
                        <a:cs typeface="Segoe UI" charset="0"/>
                      </a:endParaRPr>
                    </a:p>
                  </a:txBody>
                  <a:tcPr marL="45720" marR="45720" anchor="ctr">
                    <a:lnL w="9525" cap="flat" cmpd="sng" algn="ctr">
                      <a:solidFill>
                        <a:srgbClr val="2A3358"/>
                      </a:solidFill>
                      <a:prstDash val="solid"/>
                      <a:round/>
                      <a:headEnd type="none" w="med" len="med"/>
                      <a:tailEnd type="none" w="med" len="med"/>
                    </a:lnL>
                    <a:lnR w="9525" cap="flat" cmpd="sng" algn="ctr">
                      <a:solidFill>
                        <a:srgbClr val="2A3358"/>
                      </a:solidFill>
                      <a:prstDash val="solid"/>
                      <a:round/>
                      <a:headEnd type="none" w="med" len="med"/>
                      <a:tailEnd type="none" w="med" len="med"/>
                    </a:lnR>
                    <a:lnT w="9525" cap="flat" cmpd="sng" algn="ctr">
                      <a:solidFill>
                        <a:srgbClr val="2A3358"/>
                      </a:solidFill>
                      <a:prstDash val="solid"/>
                      <a:round/>
                      <a:headEnd type="none" w="med" len="med"/>
                      <a:tailEnd type="none" w="med" len="med"/>
                    </a:lnT>
                    <a:lnB w="9525" cap="flat" cmpd="sng" algn="ctr">
                      <a:solidFill>
                        <a:srgbClr val="2A3358"/>
                      </a:solidFill>
                      <a:prstDash val="solid"/>
                      <a:round/>
                      <a:headEnd type="none" w="med" len="med"/>
                      <a:tailEnd type="none" w="med" len="med"/>
                    </a:lnB>
                    <a:solidFill>
                      <a:srgbClr val="111733"/>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Conclusion &amp; Future Scope</a:t>
            </a:r>
            <a:endParaRPr lang="en-US" sz="2600" dirty="0"/>
          </a:p>
        </p:txBody>
      </p:sp>
      <p:sp>
        <p:nvSpPr>
          <p:cNvPr id="3" name="Shape 1"/>
          <p:cNvSpPr/>
          <p:nvPr/>
        </p:nvSpPr>
        <p:spPr>
          <a:xfrm>
            <a:off x="457200" y="804672"/>
            <a:ext cx="822960" cy="45720"/>
          </a:xfrm>
          <a:prstGeom prst="rect">
            <a:avLst/>
          </a:prstGeom>
          <a:solidFill>
            <a:srgbClr val="8B5CF6"/>
          </a:solidFill>
          <a:ln w="12700">
            <a:solidFill>
              <a:srgbClr val="8B5CF6"/>
            </a:solidFill>
            <a:prstDash val="solid"/>
          </a:ln>
        </p:spPr>
      </p:sp>
      <p:sp>
        <p:nvSpPr>
          <p:cNvPr id="4" name="Text 2"/>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12</a:t>
            </a:r>
            <a:endParaRPr lang="en-US" sz="800" dirty="0"/>
          </a:p>
        </p:txBody>
      </p:sp>
      <p:sp>
        <p:nvSpPr>
          <p:cNvPr id="6" name="Shape 3"/>
          <p:cNvSpPr/>
          <p:nvPr/>
        </p:nvSpPr>
        <p:spPr>
          <a:xfrm>
            <a:off x="457200" y="1005840"/>
            <a:ext cx="2651760" cy="2743200"/>
          </a:xfrm>
          <a:prstGeom prst="roundRect">
            <a:avLst>
              <a:gd name="adj" fmla="val 2759"/>
            </a:avLst>
          </a:prstGeom>
          <a:solidFill>
            <a:srgbClr val="151B34"/>
          </a:solidFill>
          <a:ln w="12700">
            <a:solidFill>
              <a:srgbClr val="34D399"/>
            </a:solidFill>
            <a:prstDash val="solid"/>
          </a:ln>
        </p:spPr>
      </p:sp>
      <p:sp>
        <p:nvSpPr>
          <p:cNvPr id="7" name="Text 4"/>
          <p:cNvSpPr txBox="1"/>
          <p:nvPr/>
        </p:nvSpPr>
        <p:spPr>
          <a:xfrm>
            <a:off x="594360" y="1051560"/>
            <a:ext cx="2377440" cy="274320"/>
          </a:xfrm>
          <a:prstGeom prst="rect">
            <a:avLst/>
          </a:prstGeom>
          <a:noFill/>
          <a:ln/>
        </p:spPr>
        <p:txBody>
          <a:bodyPr wrap="square" lIns="0" tIns="0" rIns="0" bIns="0" rtlCol="0" anchor="t"/>
          <a:lstStyle/>
          <a:p>
            <a:pPr marL="0" indent="0">
              <a:buNone/>
            </a:pPr>
            <a:r>
              <a:rPr lang="en-US" sz="1300" b="1" dirty="0">
                <a:solidFill>
                  <a:srgbClr val="34D399"/>
                </a:solidFill>
                <a:latin typeface="Segoe UI" pitchFamily="34" charset="0"/>
                <a:ea typeface="Segoe UI" pitchFamily="34" charset="-122"/>
                <a:cs typeface="Segoe UI" pitchFamily="34" charset="-120"/>
              </a:rPr>
              <a:t>Core capabilities</a:t>
            </a:r>
            <a:endParaRPr lang="en-US" sz="1300" dirty="0"/>
          </a:p>
        </p:txBody>
      </p:sp>
      <p:sp>
        <p:nvSpPr>
          <p:cNvPr id="8" name="Text 5"/>
          <p:cNvSpPr txBox="1"/>
          <p:nvPr/>
        </p:nvSpPr>
        <p:spPr>
          <a:xfrm>
            <a:off x="594360" y="1417320"/>
            <a:ext cx="2423160"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Process input + validation</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Preemptive / non-preemptive modes</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Aging with configurable interval</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Gantt chart</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CT, WT, TAT, RT + averages</a:t>
            </a:r>
            <a:endParaRPr lang="en-US" sz="1000" dirty="0"/>
          </a:p>
        </p:txBody>
      </p:sp>
      <p:sp>
        <p:nvSpPr>
          <p:cNvPr id="9" name="Text 6"/>
          <p:cNvSpPr txBox="1"/>
          <p:nvPr/>
        </p:nvSpPr>
        <p:spPr>
          <a:xfrm>
            <a:off x="594360" y="3474720"/>
            <a:ext cx="2377440" cy="228600"/>
          </a:xfrm>
          <a:prstGeom prst="rect">
            <a:avLst/>
          </a:prstGeom>
          <a:noFill/>
          <a:ln/>
        </p:spPr>
        <p:txBody>
          <a:bodyPr wrap="square" lIns="0" tIns="0" rIns="0" bIns="0" rtlCol="0" anchor="t"/>
          <a:lstStyle/>
          <a:p>
            <a:pPr marL="0" indent="0">
              <a:buNone/>
            </a:pPr>
            <a:r>
              <a:rPr lang="en-US" sz="800" dirty="0">
                <a:solidFill>
                  <a:srgbClr val="FBBF24"/>
                </a:solidFill>
                <a:latin typeface="Segoe UI" pitchFamily="34" charset="0"/>
                <a:ea typeface="Segoe UI" pitchFamily="34" charset="-122"/>
                <a:cs typeface="Segoe UI" pitchFamily="34" charset="-120"/>
              </a:rPr>
              <a:t>Confirm each in demo/tests</a:t>
            </a:r>
            <a:endParaRPr lang="en-US" sz="800" dirty="0"/>
          </a:p>
        </p:txBody>
      </p:sp>
      <p:sp>
        <p:nvSpPr>
          <p:cNvPr id="10" name="Shape 7"/>
          <p:cNvSpPr/>
          <p:nvPr/>
        </p:nvSpPr>
        <p:spPr>
          <a:xfrm>
            <a:off x="3246120" y="1005840"/>
            <a:ext cx="2651760" cy="2743200"/>
          </a:xfrm>
          <a:prstGeom prst="roundRect">
            <a:avLst>
              <a:gd name="adj" fmla="val 2759"/>
            </a:avLst>
          </a:prstGeom>
          <a:solidFill>
            <a:srgbClr val="151B34"/>
          </a:solidFill>
          <a:ln w="12700">
            <a:solidFill>
              <a:srgbClr val="FBBF24"/>
            </a:solidFill>
            <a:prstDash val="solid"/>
          </a:ln>
        </p:spPr>
      </p:sp>
      <p:sp>
        <p:nvSpPr>
          <p:cNvPr id="11" name="Text 8"/>
          <p:cNvSpPr txBox="1"/>
          <p:nvPr/>
        </p:nvSpPr>
        <p:spPr>
          <a:xfrm>
            <a:off x="3383280" y="1051560"/>
            <a:ext cx="2377440" cy="274320"/>
          </a:xfrm>
          <a:prstGeom prst="rect">
            <a:avLst/>
          </a:prstGeom>
          <a:noFill/>
          <a:ln/>
        </p:spPr>
        <p:txBody>
          <a:bodyPr wrap="square" lIns="0" tIns="0" rIns="0" bIns="0" rtlCol="0" anchor="t"/>
          <a:lstStyle/>
          <a:p>
            <a:pPr marL="0" indent="0">
              <a:buNone/>
            </a:pPr>
            <a:r>
              <a:rPr lang="en-US" sz="1300" b="1" dirty="0">
                <a:solidFill>
                  <a:srgbClr val="FBBF24"/>
                </a:solidFill>
                <a:latin typeface="Segoe UI" pitchFamily="34" charset="0"/>
                <a:ea typeface="Segoe UI" pitchFamily="34" charset="-122"/>
                <a:cs typeface="Segoe UI" pitchFamily="34" charset="-120"/>
              </a:rPr>
              <a:t>Future scope (proposed)</a:t>
            </a:r>
            <a:endParaRPr lang="en-US" sz="1300" dirty="0"/>
          </a:p>
        </p:txBody>
      </p:sp>
      <p:sp>
        <p:nvSpPr>
          <p:cNvPr id="12" name="Text 9"/>
          <p:cNvSpPr txBox="1"/>
          <p:nvPr/>
        </p:nvSpPr>
        <p:spPr>
          <a:xfrm>
            <a:off x="3383280" y="1417320"/>
            <a:ext cx="2423160"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Fixed-priority baseline + comparison</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More scheduling algorithms</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Process-history storage</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Workload analysis</a:t>
            </a:r>
            <a:endParaRPr lang="en-US" sz="1000" dirty="0"/>
          </a:p>
          <a:p>
            <a:pPr marL="342900" indent="-342900">
              <a:spcAft>
                <a:spcPts val="400"/>
              </a:spcAft>
              <a:buSzPct val="100000"/>
              <a:buChar char="•"/>
            </a:pPr>
            <a:r>
              <a:rPr lang="en-US" sz="1000" dirty="0">
                <a:solidFill>
                  <a:srgbClr val="E5E7EB"/>
                </a:solidFill>
                <a:latin typeface="Segoe UI" pitchFamily="34" charset="0"/>
                <a:ea typeface="Segoe UI" pitchFamily="34" charset="-122"/>
                <a:cs typeface="Segoe UI" pitchFamily="34" charset="-120"/>
              </a:rPr>
              <a:t>Further performance evaluation</a:t>
            </a:r>
            <a:endParaRPr lang="en-US" sz="1000" dirty="0"/>
          </a:p>
        </p:txBody>
      </p:sp>
      <p:sp>
        <p:nvSpPr>
          <p:cNvPr id="13" name="Shape 10"/>
          <p:cNvSpPr/>
          <p:nvPr/>
        </p:nvSpPr>
        <p:spPr>
          <a:xfrm>
            <a:off x="6035040" y="1005840"/>
            <a:ext cx="2651760" cy="2743200"/>
          </a:xfrm>
          <a:prstGeom prst="roundRect">
            <a:avLst>
              <a:gd name="adj" fmla="val 2759"/>
            </a:avLst>
          </a:prstGeom>
          <a:solidFill>
            <a:srgbClr val="151B34"/>
          </a:solidFill>
          <a:ln w="12700">
            <a:solidFill>
              <a:srgbClr val="8B5CF6"/>
            </a:solidFill>
            <a:prstDash val="solid"/>
          </a:ln>
        </p:spPr>
      </p:sp>
      <p:sp>
        <p:nvSpPr>
          <p:cNvPr id="14" name="Text 11"/>
          <p:cNvSpPr txBox="1"/>
          <p:nvPr/>
        </p:nvSpPr>
        <p:spPr>
          <a:xfrm>
            <a:off x="6172200" y="1097280"/>
            <a:ext cx="2377440" cy="2560320"/>
          </a:xfrm>
          <a:prstGeom prst="rect">
            <a:avLst/>
          </a:prstGeom>
          <a:noFill/>
          <a:ln/>
        </p:spPr>
        <p:txBody>
          <a:bodyPr wrap="square" lIns="0" tIns="0" rIns="0" bIns="0" rtlCol="0" anchor="ctr"/>
          <a:lstStyle/>
          <a:p>
            <a:pPr marL="0" indent="0">
              <a:buNone/>
            </a:pPr>
            <a:r>
              <a:rPr lang="en-US" sz="1300" b="1" dirty="0">
                <a:solidFill>
                  <a:srgbClr val="C4B5FD"/>
                </a:solidFill>
                <a:latin typeface="Segoe UI" pitchFamily="34" charset="0"/>
                <a:ea typeface="Segoe UI" pitchFamily="34" charset="-122"/>
                <a:cs typeface="Segoe UI" pitchFamily="34" charset="-120"/>
              </a:rPr>
              <a:t>Fixed priority can starve. Aging uses waiting time to give every process a fair chance.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6E4573D-C388-DA9D-085A-FBF06F81FF4F}"/>
              </a:ext>
            </a:extLst>
          </p:cNvPr>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Segoe UI" pitchFamily="34" charset="0"/>
                <a:ea typeface="Segoe UI" pitchFamily="34" charset="-122"/>
                <a:cs typeface="Segoe UI" pitchFamily="34" charset="-120"/>
              </a:rPr>
              <a:t>Conclusion &amp; Future Scope</a:t>
            </a:r>
            <a:endParaRPr lang="en-US" sz="2600" dirty="0"/>
          </a:p>
        </p:txBody>
      </p:sp>
      <p:sp>
        <p:nvSpPr>
          <p:cNvPr id="7" name="Text 2">
            <a:extLst>
              <a:ext uri="{FF2B5EF4-FFF2-40B4-BE49-F238E27FC236}">
                <a16:creationId xmlns:a16="http://schemas.microsoft.com/office/drawing/2014/main" id="{B1D8F803-86D4-DBCB-565E-21D8EB35A295}"/>
              </a:ext>
            </a:extLst>
          </p:cNvPr>
          <p:cNvSpPr txBox="1"/>
          <p:nvPr/>
        </p:nvSpPr>
        <p:spPr>
          <a:xfrm>
            <a:off x="5943600" y="4846320"/>
            <a:ext cx="2743200" cy="182880"/>
          </a:xfrm>
          <a:prstGeom prst="rect">
            <a:avLst/>
          </a:prstGeom>
          <a:noFill/>
          <a:ln/>
        </p:spPr>
        <p:txBody>
          <a:bodyPr wrap="square" lIns="0" tIns="0" rIns="0" bIns="0" rtlCol="0" anchor="ctr"/>
          <a:lstStyle/>
          <a:p>
            <a:pPr marL="0" indent="0" algn="r">
              <a:buNone/>
            </a:pPr>
            <a:r>
              <a:rPr lang="en-US" sz="800" dirty="0">
                <a:solidFill>
                  <a:srgbClr val="94A3B8"/>
                </a:solidFill>
              </a:rPr>
              <a:t>Smart CPU Scheduler  |  12</a:t>
            </a:r>
            <a:endParaRPr lang="en-US" sz="800" dirty="0"/>
          </a:p>
        </p:txBody>
      </p:sp>
      <p:sp>
        <p:nvSpPr>
          <p:cNvPr id="9" name="Shape 3">
            <a:extLst>
              <a:ext uri="{FF2B5EF4-FFF2-40B4-BE49-F238E27FC236}">
                <a16:creationId xmlns:a16="http://schemas.microsoft.com/office/drawing/2014/main" id="{768C9946-FBB5-ECBE-1D01-738979C1AA86}"/>
              </a:ext>
            </a:extLst>
          </p:cNvPr>
          <p:cNvSpPr/>
          <p:nvPr/>
        </p:nvSpPr>
        <p:spPr>
          <a:xfrm>
            <a:off x="-70338" y="-75615"/>
            <a:ext cx="9284676" cy="5261317"/>
          </a:xfrm>
          <a:prstGeom prst="roundRect">
            <a:avLst>
              <a:gd name="adj" fmla="val 2759"/>
            </a:avLst>
          </a:prstGeom>
          <a:solidFill>
            <a:srgbClr val="151B34"/>
          </a:solidFill>
          <a:ln w="12700">
            <a:solidFill>
              <a:srgbClr val="34D399"/>
            </a:solidFill>
            <a:prstDash val="solid"/>
          </a:ln>
        </p:spPr>
      </p:sp>
      <p:sp>
        <p:nvSpPr>
          <p:cNvPr id="30" name="TextBox 29">
            <a:extLst>
              <a:ext uri="{FF2B5EF4-FFF2-40B4-BE49-F238E27FC236}">
                <a16:creationId xmlns:a16="http://schemas.microsoft.com/office/drawing/2014/main" id="{66072A30-F9B6-D920-740A-AEE561885BAF}"/>
              </a:ext>
            </a:extLst>
          </p:cNvPr>
          <p:cNvSpPr txBox="1"/>
          <p:nvPr/>
        </p:nvSpPr>
        <p:spPr>
          <a:xfrm>
            <a:off x="2862775" y="1596682"/>
            <a:ext cx="4557933" cy="1631216"/>
          </a:xfrm>
          <a:prstGeom prst="rect">
            <a:avLst/>
          </a:prstGeom>
          <a:noFill/>
        </p:spPr>
        <p:txBody>
          <a:bodyPr wrap="square" rtlCol="0">
            <a:spAutoFit/>
          </a:bodyPr>
          <a:lstStyle/>
          <a:p>
            <a:r>
              <a:rPr lang="en-US" sz="5000" b="1" dirty="0">
                <a:solidFill>
                  <a:srgbClr val="FFFFFF"/>
                </a:solidFill>
                <a:latin typeface="Times New Roman" panose="02020603050405020304" pitchFamily="18" charset="0"/>
                <a:ea typeface="Segoe UI" pitchFamily="34" charset="-122"/>
                <a:cs typeface="Times New Roman" panose="02020603050405020304" pitchFamily="18" charset="0"/>
              </a:rPr>
              <a:t>Thank You</a:t>
            </a:r>
            <a:endParaRPr lang="en-US" sz="5000" dirty="0">
              <a:latin typeface="Times New Roman" panose="02020603050405020304" pitchFamily="18" charset="0"/>
              <a:cs typeface="Times New Roman" panose="02020603050405020304" pitchFamily="18" charset="0"/>
            </a:endParaRPr>
          </a:p>
          <a:p>
            <a:r>
              <a:rPr lang="en-IN" sz="5000" dirty="0">
                <a:latin typeface="Times New Roman" panose="02020603050405020304" pitchFamily="18" charset="0"/>
                <a:cs typeface="Times New Roman" panose="02020603050405020304" pitchFamily="18" charset="0"/>
              </a:rPr>
              <a:t> </a:t>
            </a:r>
          </a:p>
        </p:txBody>
      </p:sp>
      <p:sp>
        <p:nvSpPr>
          <p:cNvPr id="31" name="TextBox 30">
            <a:extLst>
              <a:ext uri="{FF2B5EF4-FFF2-40B4-BE49-F238E27FC236}">
                <a16:creationId xmlns:a16="http://schemas.microsoft.com/office/drawing/2014/main" id="{40CBC70F-9BD6-9054-73ED-CA231DC3EF4B}"/>
              </a:ext>
            </a:extLst>
          </p:cNvPr>
          <p:cNvSpPr txBox="1"/>
          <p:nvPr/>
        </p:nvSpPr>
        <p:spPr>
          <a:xfrm>
            <a:off x="3509889" y="2257782"/>
            <a:ext cx="2363372" cy="553998"/>
          </a:xfrm>
          <a:prstGeom prst="rect">
            <a:avLst/>
          </a:prstGeom>
          <a:noFill/>
        </p:spPr>
        <p:txBody>
          <a:bodyPr wrap="square" rtlCol="0">
            <a:spAutoFit/>
          </a:bodyPr>
          <a:lstStyle/>
          <a:p>
            <a:r>
              <a:rPr lang="en-US" sz="1500" dirty="0">
                <a:solidFill>
                  <a:srgbClr val="94A3B8"/>
                </a:solidFill>
                <a:latin typeface="Segoe UI" pitchFamily="34" charset="0"/>
                <a:ea typeface="Segoe UI" pitchFamily="34" charset="-122"/>
                <a:cs typeface="Segoe UI" pitchFamily="34" charset="-120"/>
              </a:rPr>
              <a:t>Questions &amp; live demo</a:t>
            </a:r>
            <a:endParaRPr lang="en-US" sz="1500" dirty="0"/>
          </a:p>
          <a:p>
            <a:endParaRPr lang="en-IN" sz="1500" dirty="0"/>
          </a:p>
        </p:txBody>
      </p:sp>
    </p:spTree>
    <p:extLst>
      <p:ext uri="{BB962C8B-B14F-4D97-AF65-F5344CB8AC3E}">
        <p14:creationId xmlns:p14="http://schemas.microsoft.com/office/powerpoint/2010/main" val="4258870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2540</Words>
  <Application>Microsoft Office PowerPoint</Application>
  <PresentationFormat>On-screen Show (16:9)</PresentationFormat>
  <Paragraphs>339</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Consolas</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CPU Scheduler with Dynamic Priority Adjustment</dc:title>
  <dc:subject>PptxGenJS Presentation</dc:subject>
  <dc:creator>PptxGenJS</dc:creator>
  <cp:lastModifiedBy>mvijayalakshmi2007@outlook.com</cp:lastModifiedBy>
  <cp:revision>3</cp:revision>
  <dcterms:created xsi:type="dcterms:W3CDTF">2026-10-16T13:25:19Z</dcterms:created>
  <dcterms:modified xsi:type="dcterms:W3CDTF">2026-10-17T05:41:25Z</dcterms:modified>
</cp:coreProperties>
</file>